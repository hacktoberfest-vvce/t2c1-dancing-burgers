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307"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095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chose Challenge A, Best Use of the Solana Agent Registry. Our project is Sworn: a system that hires AI agents from the open Solana agent registries, tests every one of them the same way before it works, checks every claim they make against its source, and records how each agent did on-chain.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has the problem: teams building AI products who want to hire ready-made agents from open registries, instead of building every agent themselves, and the people who rely on the answers. The problem: a registry listing proves nothing. Evidence from devnet: 4,836 agents are registered in the Solana Agent Registry, only 86 list an address, and of the 36 public addresses run by other people, none accepted a task. Ratings can be self-given: one agent's 22 ratings all came from its own operator. The cost: wrong answers reach users (11 percent of claims in a fixed team's answers had no source), time is wasted on dead agents, reputation can be faked, and nobody can tell which agent is responsible when an answer is wrong.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approach is to treat every agent like a new hire. A question comes in; Sworn finds candidates in both registries by the skill each job needs: planner, retriever, reader, reasoner, verifier and writer. Every candidate, including our own agents, goes through the same three checks: an independent track record where self-ratings don't count, an alive check, and a standard benchmark built from public datasets. Survivors are hired. They research with exact quotes, a different agent verifies every quote, the answer uses verified claims only, and each agent's score is written back on-chain. If an agent dies mid-run, a backup that already passed the checks takes over.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architecture. A research question goes to the orchestrator agent, a LangGraph state machine. One: it discovers candidate agents in the Solana Agent Registry and SATI by OASF skill. Two: every candidate is screened: its past performance from independent on-chain ratings, whether it is alive, and the standard benchmark; a failure means it is rejected. Three: the planner agent splits the question. Four: the orchestrator assigns subtasks to the hired team: retriever, reader, reasoner, a verifier that is different from the producer, and the generator, each passing its output with its agent ID. Five: if any agent fails or times out, it is replaced by a screened backup. Six: the final answer goes back with sources and agent IDs. Seven: every agent's performance is written back to the registry, and the verifier's verdicts are kept as validation records linked from each rating.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features first: Sworn hires straight from the Solana registries and writes every score back on-chain; every agent takes the same standard benchmark built from public datasets; self-ratings are ignored; every claim is traced and checked by a different agent; and failover keeps runs going. Then the good-to-have features that make it easy and robust to use. Finally, before and after, measured on the same five questions: a fixed team with no checks had 11 percent unsupported claims in its answers, Sworn had zero. A lying agent stays on a fixed team but is rejected by Sworn's benchmark. With Sworn every claim is traceable, a dead agent is replaced in about two seconds, and only independent ratings count.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We are happy to show a live run: hiring, a killed agent being replaced, and the on-chain record.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2" name="Rectangle 1"/>
          <p:cNvSpPr/>
          <p:nvPr/>
        </p:nvSpPr>
        <p:spPr>
          <a:xfrm>
            <a:off x="164592" y="137160"/>
            <a:ext cx="11859768" cy="6565392"/>
          </a:xfrm>
          <a:prstGeom prst="rect">
            <a:avLst/>
          </a:prstGeom>
          <a:noFill/>
          <a:ln w="13970">
            <a:solidFill>
              <a:srgbClr val="0F0F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vectorflow_watermark_medium.png"/>
          <p:cNvPicPr>
            <a:picLocks noChangeAspect="1"/>
          </p:cNvPicPr>
          <p:nvPr/>
        </p:nvPicPr>
        <p:blipFill>
          <a:blip r:embed="rId3"/>
          <a:stretch>
            <a:fillRect/>
          </a:stretch>
        </p:blipFill>
        <p:spPr>
          <a:xfrm>
            <a:off x="4142232" y="960120"/>
            <a:ext cx="3913632" cy="4937760"/>
          </a:xfrm>
          <a:prstGeom prst="rect">
            <a:avLst/>
          </a:prstGeom>
        </p:spPr>
      </p:pic>
      <p:sp>
        <p:nvSpPr>
          <p:cNvPr id="3" name="Rectangle 2"/>
          <p:cNvSpPr/>
          <p:nvPr/>
        </p:nvSpPr>
        <p:spPr>
          <a:xfrm>
            <a:off x="164592" y="137160"/>
            <a:ext cx="1783080" cy="109728"/>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137160"/>
            <a:ext cx="109728" cy="914400"/>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0652760" y="137160"/>
            <a:ext cx="1097280" cy="310896"/>
          </a:xfrm>
          <a:prstGeom prst="parallelogram">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914632" y="5029200"/>
            <a:ext cx="109728" cy="132588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326880" y="6583680"/>
            <a:ext cx="269748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4592" y="5623560"/>
            <a:ext cx="109728" cy="105156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4592" y="6583680"/>
            <a:ext cx="123444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512064"/>
            <a:ext cx="10881360" cy="502920"/>
          </a:xfrm>
          <a:prstGeom prst="rect">
            <a:avLst/>
          </a:prstGeom>
          <a:noFill/>
        </p:spPr>
        <p:txBody>
          <a:bodyPr wrap="square" lIns="18288" tIns="9144" rIns="18288" bIns="9144">
            <a:spAutoFit/>
          </a:bodyPr>
          <a:lstStyle/>
          <a:p>
            <a:pPr algn="ctr">
              <a:spcAft>
                <a:spcPts val="0"/>
              </a:spcAft>
            </a:pPr>
            <a:r>
              <a:rPr sz="2800" b="1">
                <a:solidFill>
                  <a:srgbClr val="0F0F0F"/>
                </a:solidFill>
                <a:latin typeface="Times New Roman"/>
              </a:rPr>
              <a:t>VIDYAVARDHAKA COLLEGE OF ENGINEERING, MYSURU</a:t>
            </a:r>
          </a:p>
        </p:txBody>
      </p:sp>
      <p:sp>
        <p:nvSpPr>
          <p:cNvPr id="11" name="TextBox 10"/>
          <p:cNvSpPr txBox="1"/>
          <p:nvPr/>
        </p:nvSpPr>
        <p:spPr>
          <a:xfrm>
            <a:off x="1005840" y="1078992"/>
            <a:ext cx="10149840" cy="384048"/>
          </a:xfrm>
          <a:prstGeom prst="rect">
            <a:avLst/>
          </a:prstGeom>
          <a:noFill/>
        </p:spPr>
        <p:txBody>
          <a:bodyPr wrap="square" lIns="18288" tIns="9144" rIns="18288" bIns="9144">
            <a:spAutoFit/>
          </a:bodyPr>
          <a:lstStyle/>
          <a:p>
            <a:pPr algn="ctr">
              <a:spcAft>
                <a:spcPts val="0"/>
              </a:spcAft>
            </a:pPr>
            <a:r>
              <a:rPr sz="2100" b="1">
                <a:solidFill>
                  <a:srgbClr val="0F0F0F"/>
                </a:solidFill>
                <a:latin typeface="Times New Roman"/>
              </a:rPr>
              <a:t>HACKTOBERFEST  ×  VECTORFLOW 2026</a:t>
            </a:r>
          </a:p>
        </p:txBody>
      </p:sp>
      <p:sp>
        <p:nvSpPr>
          <p:cNvPr id="12" name="TextBox 11"/>
          <p:cNvSpPr txBox="1"/>
          <p:nvPr/>
        </p:nvSpPr>
        <p:spPr>
          <a:xfrm>
            <a:off x="914400" y="1673352"/>
            <a:ext cx="10332720" cy="384048"/>
          </a:xfrm>
          <a:prstGeom prst="rect">
            <a:avLst/>
          </a:prstGeom>
          <a:noFill/>
        </p:spPr>
        <p:txBody>
          <a:bodyPr wrap="square" lIns="18288" tIns="9144" rIns="18288" bIns="9144">
            <a:spAutoFit/>
          </a:bodyPr>
          <a:lstStyle/>
          <a:p>
            <a:pPr algn="ctr">
              <a:spcAft>
                <a:spcPts val="0"/>
              </a:spcAft>
            </a:pPr>
            <a:r>
              <a:rPr sz="2000" b="1">
                <a:solidFill>
                  <a:srgbClr val="0F0F0F"/>
                </a:solidFill>
                <a:latin typeface="Times New Roman"/>
              </a:rPr>
              <a:t>TRACK 2 : AI AGENTS + OPEN-SOURCE DEVELOPMENT</a:t>
            </a:r>
          </a:p>
        </p:txBody>
      </p:sp>
      <p:sp>
        <p:nvSpPr>
          <p:cNvPr id="13" name="TextBox 12"/>
          <p:cNvSpPr txBox="1"/>
          <p:nvPr/>
        </p:nvSpPr>
        <p:spPr>
          <a:xfrm>
            <a:off x="914400" y="2148840"/>
            <a:ext cx="10332720" cy="310896"/>
          </a:xfrm>
          <a:prstGeom prst="rect">
            <a:avLst/>
          </a:prstGeom>
          <a:noFill/>
        </p:spPr>
        <p:txBody>
          <a:bodyPr wrap="square" lIns="18288" tIns="9144" rIns="18288" bIns="9144">
            <a:spAutoFit/>
          </a:bodyPr>
          <a:lstStyle/>
          <a:p>
            <a:pPr algn="ctr">
              <a:spcAft>
                <a:spcPts val="0"/>
              </a:spcAft>
            </a:pPr>
            <a:r>
              <a:rPr sz="1700" b="0">
                <a:solidFill>
                  <a:srgbClr val="0F0F0F"/>
                </a:solidFill>
                <a:latin typeface="Times New Roman"/>
              </a:rPr>
              <a:t>Please choose your respective challenge</a:t>
            </a:r>
          </a:p>
        </p:txBody>
      </p:sp>
      <p:sp>
        <p:nvSpPr>
          <p:cNvPr id="14" name="TextBox 13"/>
          <p:cNvSpPr txBox="1"/>
          <p:nvPr/>
        </p:nvSpPr>
        <p:spPr>
          <a:xfrm>
            <a:off x="914400" y="2523744"/>
            <a:ext cx="10332720" cy="384048"/>
          </a:xfrm>
          <a:prstGeom prst="rect">
            <a:avLst/>
          </a:prstGeom>
          <a:noFill/>
        </p:spPr>
        <p:txBody>
          <a:bodyPr wrap="square" lIns="18288" tIns="9144" rIns="18288" bIns="9144">
            <a:spAutoFit/>
          </a:bodyPr>
          <a:lstStyle/>
          <a:p>
            <a:pPr algn="ctr">
              <a:spcAft>
                <a:spcPts val="0"/>
              </a:spcAft>
            </a:pPr>
            <a:r>
              <a:rPr sz="1800" b="1">
                <a:solidFill>
                  <a:srgbClr val="0F0F0F"/>
                </a:solidFill>
                <a:latin typeface="Times New Roman"/>
              </a:rPr>
              <a:t>Challenge A</a:t>
            </a:r>
          </a:p>
        </p:txBody>
      </p:sp>
      <p:sp>
        <p:nvSpPr>
          <p:cNvPr id="15" name="TextBox 14"/>
          <p:cNvSpPr txBox="1"/>
          <p:nvPr/>
        </p:nvSpPr>
        <p:spPr>
          <a:xfrm>
            <a:off x="914400" y="2898648"/>
            <a:ext cx="10332720" cy="384048"/>
          </a:xfrm>
          <a:prstGeom prst="rect">
            <a:avLst/>
          </a:prstGeom>
          <a:noFill/>
        </p:spPr>
        <p:txBody>
          <a:bodyPr wrap="square" lIns="18288" tIns="9144" rIns="18288" bIns="9144">
            <a:spAutoFit/>
          </a:bodyPr>
          <a:lstStyle/>
          <a:p>
            <a:pPr algn="ctr">
              <a:spcAft>
                <a:spcPts val="0"/>
              </a:spcAft>
            </a:pPr>
            <a:r>
              <a:rPr sz="1600" b="1">
                <a:solidFill>
                  <a:srgbClr val="F44C25"/>
                </a:solidFill>
                <a:latin typeface="Times New Roman"/>
              </a:rPr>
              <a:t>A — Best Use of the Solana Agent Registry  ✓</a:t>
            </a:r>
          </a:p>
        </p:txBody>
      </p:sp>
      <p:sp>
        <p:nvSpPr>
          <p:cNvPr id="16" name="TextBox 15"/>
          <p:cNvSpPr txBox="1"/>
          <p:nvPr/>
        </p:nvSpPr>
        <p:spPr>
          <a:xfrm>
            <a:off x="914400" y="3246120"/>
            <a:ext cx="10332720" cy="384048"/>
          </a:xfrm>
          <a:prstGeom prst="rect">
            <a:avLst/>
          </a:prstGeom>
          <a:noFill/>
        </p:spPr>
        <p:txBody>
          <a:bodyPr wrap="square" lIns="18288" tIns="9144" rIns="18288" bIns="9144">
            <a:spAutoFit/>
          </a:bodyPr>
          <a:lstStyle/>
          <a:p>
            <a:pPr algn="ctr">
              <a:spcAft>
                <a:spcPts val="0"/>
              </a:spcAft>
            </a:pPr>
            <a:r>
              <a:rPr sz="1600" b="0">
                <a:solidFill>
                  <a:srgbClr val="8C8C8C"/>
                </a:solidFill>
                <a:latin typeface="Times New Roman"/>
              </a:rPr>
              <a:t>B — Best Hack Built with GitHub Copilot</a:t>
            </a:r>
          </a:p>
        </p:txBody>
      </p:sp>
      <p:sp>
        <p:nvSpPr>
          <p:cNvPr id="17" name="TextBox 16"/>
          <p:cNvSpPr txBox="1"/>
          <p:nvPr/>
        </p:nvSpPr>
        <p:spPr>
          <a:xfrm>
            <a:off x="914400" y="3712463"/>
            <a:ext cx="10332720" cy="365760"/>
          </a:xfrm>
          <a:prstGeom prst="rect">
            <a:avLst/>
          </a:prstGeom>
          <a:noFill/>
        </p:spPr>
        <p:txBody>
          <a:bodyPr wrap="square" lIns="18288" tIns="9144" rIns="18288" bIns="9144">
            <a:spAutoFit/>
          </a:bodyPr>
          <a:lstStyle/>
          <a:p>
            <a:pPr algn="ctr">
              <a:spcAft>
                <a:spcPts val="0"/>
              </a:spcAft>
            </a:pPr>
            <a:r>
              <a:rPr sz="2200" b="1">
                <a:solidFill>
                  <a:srgbClr val="0F0F0F"/>
                </a:solidFill>
                <a:latin typeface="Times New Roman"/>
              </a:rPr>
              <a:t>Sworn: Trusted Agent Hiring on the Solana Agent Registry</a:t>
            </a:r>
          </a:p>
        </p:txBody>
      </p:sp>
      <p:sp>
        <p:nvSpPr>
          <p:cNvPr id="18" name="TextBox 17"/>
          <p:cNvSpPr txBox="1"/>
          <p:nvPr/>
        </p:nvSpPr>
        <p:spPr>
          <a:xfrm>
            <a:off x="1828800" y="4370832"/>
            <a:ext cx="2377440" cy="310896"/>
          </a:xfrm>
          <a:prstGeom prst="rect">
            <a:avLst/>
          </a:prstGeom>
          <a:noFill/>
        </p:spPr>
        <p:txBody>
          <a:bodyPr wrap="square" lIns="18288" tIns="9144" rIns="18288" bIns="9144">
            <a:spAutoFit/>
          </a:bodyPr>
          <a:lstStyle/>
          <a:p>
            <a:pPr algn="l">
              <a:spcAft>
                <a:spcPts val="0"/>
              </a:spcAft>
            </a:pPr>
            <a:r>
              <a:rPr sz="1700" b="1">
                <a:solidFill>
                  <a:srgbClr val="0F0F0F"/>
                </a:solidFill>
                <a:latin typeface="Times New Roman"/>
              </a:rPr>
              <a:t>Team Name</a:t>
            </a:r>
          </a:p>
        </p:txBody>
      </p:sp>
      <p:sp>
        <p:nvSpPr>
          <p:cNvPr id="19" name="TextBox 18"/>
          <p:cNvSpPr txBox="1"/>
          <p:nvPr/>
        </p:nvSpPr>
        <p:spPr>
          <a:xfrm>
            <a:off x="4160520" y="4370832"/>
            <a:ext cx="6217920" cy="384048"/>
          </a:xfrm>
          <a:prstGeom prst="rect">
            <a:avLst/>
          </a:prstGeom>
          <a:noFill/>
        </p:spPr>
        <p:txBody>
          <a:bodyPr wrap="square" lIns="18288" tIns="9144" rIns="18288" bIns="9144">
            <a:spAutoFit/>
          </a:bodyPr>
          <a:lstStyle/>
          <a:p>
            <a:pPr algn="l">
              <a:spcAft>
                <a:spcPts val="0"/>
              </a:spcAft>
            </a:pPr>
            <a:r>
              <a:rPr sz="1700" b="0">
                <a:solidFill>
                  <a:srgbClr val="0F0F0F"/>
                </a:solidFill>
                <a:latin typeface="Times New Roman"/>
              </a:rPr>
              <a:t>:  Dancing Burgers</a:t>
            </a:r>
          </a:p>
        </p:txBody>
      </p:sp>
      <p:sp>
        <p:nvSpPr>
          <p:cNvPr id="20" name="TextBox 19"/>
          <p:cNvSpPr txBox="1"/>
          <p:nvPr/>
        </p:nvSpPr>
        <p:spPr>
          <a:xfrm>
            <a:off x="1828800" y="4864608"/>
            <a:ext cx="2377440" cy="310896"/>
          </a:xfrm>
          <a:prstGeom prst="rect">
            <a:avLst/>
          </a:prstGeom>
          <a:noFill/>
        </p:spPr>
        <p:txBody>
          <a:bodyPr wrap="square" lIns="18288" tIns="9144" rIns="18288" bIns="9144">
            <a:spAutoFit/>
          </a:bodyPr>
          <a:lstStyle/>
          <a:p>
            <a:pPr algn="l">
              <a:spcAft>
                <a:spcPts val="0"/>
              </a:spcAft>
            </a:pPr>
            <a:r>
              <a:rPr sz="1700" b="1">
                <a:solidFill>
                  <a:srgbClr val="0F0F0F"/>
                </a:solidFill>
                <a:latin typeface="Times New Roman"/>
              </a:rPr>
              <a:t>Team Number</a:t>
            </a:r>
          </a:p>
        </p:txBody>
      </p:sp>
      <p:sp>
        <p:nvSpPr>
          <p:cNvPr id="21" name="TextBox 20"/>
          <p:cNvSpPr txBox="1"/>
          <p:nvPr/>
        </p:nvSpPr>
        <p:spPr>
          <a:xfrm>
            <a:off x="4160520" y="4864608"/>
            <a:ext cx="6217920" cy="384048"/>
          </a:xfrm>
          <a:prstGeom prst="rect">
            <a:avLst/>
          </a:prstGeom>
          <a:noFill/>
        </p:spPr>
        <p:txBody>
          <a:bodyPr wrap="square" lIns="18288" tIns="9144" rIns="18288" bIns="9144">
            <a:spAutoFit/>
          </a:bodyPr>
          <a:lstStyle/>
          <a:p>
            <a:pPr algn="l">
              <a:spcAft>
                <a:spcPts val="0"/>
              </a:spcAft>
            </a:pPr>
            <a:r>
              <a:rPr sz="1700" b="0">
                <a:solidFill>
                  <a:srgbClr val="0F0F0F"/>
                </a:solidFill>
                <a:latin typeface="Times New Roman"/>
              </a:rPr>
              <a:t>:  [Enter team number]</a:t>
            </a:r>
          </a:p>
        </p:txBody>
      </p:sp>
      <p:sp>
        <p:nvSpPr>
          <p:cNvPr id="22" name="TextBox 21"/>
          <p:cNvSpPr txBox="1"/>
          <p:nvPr/>
        </p:nvSpPr>
        <p:spPr>
          <a:xfrm>
            <a:off x="1828800" y="5358384"/>
            <a:ext cx="2377440" cy="310896"/>
          </a:xfrm>
          <a:prstGeom prst="rect">
            <a:avLst/>
          </a:prstGeom>
          <a:noFill/>
        </p:spPr>
        <p:txBody>
          <a:bodyPr wrap="square" lIns="18288" tIns="9144" rIns="18288" bIns="9144">
            <a:spAutoFit/>
          </a:bodyPr>
          <a:lstStyle/>
          <a:p>
            <a:pPr algn="l">
              <a:spcAft>
                <a:spcPts val="0"/>
              </a:spcAft>
            </a:pPr>
            <a:r>
              <a:rPr sz="1700" b="1">
                <a:solidFill>
                  <a:srgbClr val="0F0F0F"/>
                </a:solidFill>
                <a:latin typeface="Times New Roman"/>
              </a:rPr>
              <a:t>Team Members</a:t>
            </a:r>
          </a:p>
        </p:txBody>
      </p:sp>
      <p:sp>
        <p:nvSpPr>
          <p:cNvPr id="23" name="TextBox 22"/>
          <p:cNvSpPr txBox="1"/>
          <p:nvPr/>
        </p:nvSpPr>
        <p:spPr>
          <a:xfrm>
            <a:off x="4160520" y="5358384"/>
            <a:ext cx="6217920" cy="384048"/>
          </a:xfrm>
          <a:prstGeom prst="rect">
            <a:avLst/>
          </a:prstGeom>
          <a:noFill/>
        </p:spPr>
        <p:txBody>
          <a:bodyPr wrap="square" lIns="18288" tIns="9144" rIns="18288" bIns="9144">
            <a:spAutoFit/>
          </a:bodyPr>
          <a:lstStyle/>
          <a:p>
            <a:pPr algn="l">
              <a:spcAft>
                <a:spcPts val="0"/>
              </a:spcAft>
            </a:pPr>
            <a:r>
              <a:rPr sz="1700" b="0">
                <a:solidFill>
                  <a:srgbClr val="0F0F0F"/>
                </a:solidFill>
                <a:latin typeface="Times New Roman"/>
              </a:rPr>
              <a:t>:  1. [Name]                 2.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2" name="Rectangle 1"/>
          <p:cNvSpPr/>
          <p:nvPr/>
        </p:nvSpPr>
        <p:spPr>
          <a:xfrm>
            <a:off x="164592" y="137160"/>
            <a:ext cx="11859768" cy="6565392"/>
          </a:xfrm>
          <a:prstGeom prst="rect">
            <a:avLst/>
          </a:prstGeom>
          <a:noFill/>
          <a:ln w="13970">
            <a:solidFill>
              <a:srgbClr val="0F0F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vectorflow_watermark_medium.png"/>
          <p:cNvPicPr>
            <a:picLocks noChangeAspect="1"/>
          </p:cNvPicPr>
          <p:nvPr/>
        </p:nvPicPr>
        <p:blipFill>
          <a:blip r:embed="rId3"/>
          <a:stretch>
            <a:fillRect/>
          </a:stretch>
        </p:blipFill>
        <p:spPr>
          <a:xfrm>
            <a:off x="4142232" y="960120"/>
            <a:ext cx="3913632" cy="4937760"/>
          </a:xfrm>
          <a:prstGeom prst="rect">
            <a:avLst/>
          </a:prstGeom>
        </p:spPr>
      </p:pic>
      <p:sp>
        <p:nvSpPr>
          <p:cNvPr id="3" name="Rectangle 2"/>
          <p:cNvSpPr/>
          <p:nvPr/>
        </p:nvSpPr>
        <p:spPr>
          <a:xfrm>
            <a:off x="164592" y="137160"/>
            <a:ext cx="1783080" cy="109728"/>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137160"/>
            <a:ext cx="109728" cy="914400"/>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0652760" y="137160"/>
            <a:ext cx="1097280" cy="310896"/>
          </a:xfrm>
          <a:prstGeom prst="parallelogram">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914632" y="5029200"/>
            <a:ext cx="109728" cy="132588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326880" y="6583680"/>
            <a:ext cx="269748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4592" y="5623560"/>
            <a:ext cx="109728" cy="105156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4592" y="6583680"/>
            <a:ext cx="123444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02920"/>
            <a:ext cx="10789920" cy="502920"/>
          </a:xfrm>
          <a:prstGeom prst="rect">
            <a:avLst/>
          </a:prstGeom>
          <a:noFill/>
        </p:spPr>
        <p:txBody>
          <a:bodyPr wrap="square" lIns="18288" tIns="9144" rIns="18288" bIns="9144">
            <a:spAutoFit/>
          </a:bodyPr>
          <a:lstStyle/>
          <a:p>
            <a:pPr algn="l">
              <a:spcAft>
                <a:spcPts val="0"/>
              </a:spcAft>
            </a:pPr>
            <a:r>
              <a:rPr sz="2800" b="1">
                <a:solidFill>
                  <a:srgbClr val="0F0F0F"/>
                </a:solidFill>
                <a:latin typeface="Times New Roman"/>
              </a:rPr>
              <a:t>PROBLEM STATEMENT</a:t>
            </a:r>
          </a:p>
        </p:txBody>
      </p:sp>
      <p:sp>
        <p:nvSpPr>
          <p:cNvPr id="11" name="Rectangle 10"/>
          <p:cNvSpPr/>
          <p:nvPr/>
        </p:nvSpPr>
        <p:spPr>
          <a:xfrm>
            <a:off x="566928" y="1234440"/>
            <a:ext cx="11018520" cy="5074920"/>
          </a:xfrm>
          <a:prstGeom prst="rect">
            <a:avLst/>
          </a:prstGeom>
          <a:noFill/>
          <a:ln w="1270">
            <a:solidFill>
              <a:srgbClr val="FFF9EB"/>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endParaRPr/>
          </a:p>
        </p:txBody>
      </p:sp>
      <p:sp>
        <p:nvSpPr>
          <p:cNvPr id="13" name="User label"/>
          <p:cNvSpPr txBox="1"/>
          <p:nvPr/>
        </p:nvSpPr>
        <p:spPr>
          <a:xfrm>
            <a:off x="787400" y="1346200"/>
            <a:ext cx="5588000" cy="2286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THE USER</a:t>
            </a:r>
          </a:p>
        </p:txBody>
      </p:sp>
      <p:sp>
        <p:nvSpPr>
          <p:cNvPr id="14" name="User"/>
          <p:cNvSpPr txBox="1"/>
          <p:nvPr/>
        </p:nvSpPr>
        <p:spPr>
          <a:xfrm>
            <a:off x="787400" y="1574800"/>
            <a:ext cx="5588000" cy="711200"/>
          </a:xfrm>
          <a:prstGeom prst="rect">
            <a:avLst/>
          </a:prstGeom>
          <a:noFill/>
        </p:spPr>
        <p:txBody>
          <a:bodyPr wrap="square" lIns="0" tIns="0" rIns="0" bIns="0" anchor="t">
            <a:spAutoFit/>
          </a:bodyPr>
          <a:lstStyle/>
          <a:p>
            <a:pPr algn="l">
              <a:spcAft>
                <a:spcPts val="400"/>
              </a:spcAft>
            </a:pPr>
            <a:r>
              <a:rPr sz="1300" b="0" i="0">
                <a:solidFill>
                  <a:srgbClr val="0F0F0F"/>
                </a:solidFill>
                <a:latin typeface="Times New Roman"/>
              </a:rPr>
              <a:t>Teams building AI products that want to hire ready-made agents from open registries, and the people who rely on those agents' answers.</a:t>
            </a:r>
          </a:p>
        </p:txBody>
      </p:sp>
      <p:sp>
        <p:nvSpPr>
          <p:cNvPr id="15" name="Problem label"/>
          <p:cNvSpPr txBox="1"/>
          <p:nvPr/>
        </p:nvSpPr>
        <p:spPr>
          <a:xfrm>
            <a:off x="787400" y="2362200"/>
            <a:ext cx="5588000" cy="2286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THE PROBLEM</a:t>
            </a:r>
          </a:p>
        </p:txBody>
      </p:sp>
      <p:sp>
        <p:nvSpPr>
          <p:cNvPr id="16" name="Problem"/>
          <p:cNvSpPr txBox="1"/>
          <p:nvPr/>
        </p:nvSpPr>
        <p:spPr>
          <a:xfrm>
            <a:off x="787400" y="2590800"/>
            <a:ext cx="5588000" cy="1092200"/>
          </a:xfrm>
          <a:prstGeom prst="rect">
            <a:avLst/>
          </a:prstGeom>
          <a:noFill/>
        </p:spPr>
        <p:txBody>
          <a:bodyPr wrap="square" lIns="0" tIns="0" rIns="0" bIns="0" anchor="t">
            <a:spAutoFit/>
          </a:bodyPr>
          <a:lstStyle/>
          <a:p>
            <a:pPr algn="l">
              <a:spcAft>
                <a:spcPts val="400"/>
              </a:spcAft>
            </a:pPr>
            <a:r>
              <a:rPr sz="1400" b="1" i="0">
                <a:solidFill>
                  <a:srgbClr val="0F0F0F"/>
                </a:solidFill>
                <a:latin typeface="Times New Roman"/>
              </a:rPr>
              <a:t>A registry listing proves nothing. </a:t>
            </a:r>
            <a:r>
              <a:rPr sz="1300" b="0" i="0">
                <a:solidFill>
                  <a:srgbClr val="0F0F0F"/>
                </a:solidFill>
                <a:latin typeface="Times New Roman"/>
              </a:rPr>
              <a:t>You can't tell whether an agent works, tells the truth or earned its rating, and once several agents work together nobody can see which one said what.</a:t>
            </a:r>
          </a:p>
        </p:txBody>
      </p:sp>
      <p:sp>
        <p:nvSpPr>
          <p:cNvPr id="17" name="Evidence label"/>
          <p:cNvSpPr txBox="1"/>
          <p:nvPr/>
        </p:nvSpPr>
        <p:spPr>
          <a:xfrm>
            <a:off x="6705600" y="1346200"/>
            <a:ext cx="4572000" cy="2286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EVIDENCE</a:t>
            </a:r>
            <a:r>
              <a:rPr sz="1150" b="0" i="0">
                <a:solidFill>
                  <a:srgbClr val="5A5A5A"/>
                </a:solidFill>
                <a:latin typeface="Times New Roman"/>
              </a:rPr>
              <a:t>   what we measured on devnet</a:t>
            </a:r>
          </a:p>
        </p:txBody>
      </p:sp>
      <p:sp>
        <p:nvSpPr>
          <p:cNvPr id="18" name="Rounded Rectangle 17"/>
          <p:cNvSpPr/>
          <p:nvPr/>
        </p:nvSpPr>
        <p:spPr>
          <a:xfrm>
            <a:off x="6705600" y="1625600"/>
            <a:ext cx="4572000" cy="457200"/>
          </a:xfrm>
          <a:prstGeom prst="roundRect">
            <a:avLst>
              <a:gd name="adj" fmla="val 25000"/>
            </a:avLst>
          </a:prstGeom>
          <a:solidFill>
            <a:srgbClr val="ECE6D9"/>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4,836  </a:t>
            </a:r>
            <a:r>
              <a:rPr sz="1100" b="0" i="0">
                <a:solidFill>
                  <a:srgbClr val="0F0F0F"/>
                </a:solidFill>
                <a:latin typeface="Times New Roman"/>
              </a:rPr>
              <a:t>agents in the Solana Agent Registry</a:t>
            </a:r>
          </a:p>
        </p:txBody>
      </p:sp>
      <p:cxnSp>
        <p:nvCxnSpPr>
          <p:cNvPr id="19" name="Connector 18"/>
          <p:cNvCxnSpPr/>
          <p:nvPr/>
        </p:nvCxnSpPr>
        <p:spPr>
          <a:xfrm>
            <a:off x="8991600" y="2082800"/>
            <a:ext cx="0" cy="762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72300" y="2159000"/>
            <a:ext cx="4038600" cy="457200"/>
          </a:xfrm>
          <a:prstGeom prst="roundRect">
            <a:avLst>
              <a:gd name="adj" fmla="val 25000"/>
            </a:avLst>
          </a:prstGeom>
          <a:solidFill>
            <a:srgbClr val="F6D99A"/>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86  </a:t>
            </a:r>
            <a:r>
              <a:rPr sz="1100" b="0" i="0">
                <a:solidFill>
                  <a:srgbClr val="0F0F0F"/>
                </a:solidFill>
                <a:latin typeface="Times New Roman"/>
              </a:rPr>
              <a:t>list an address you can call (1.8%)</a:t>
            </a:r>
          </a:p>
        </p:txBody>
      </p:sp>
      <p:cxnSp>
        <p:nvCxnSpPr>
          <p:cNvPr id="21" name="Connector 20"/>
          <p:cNvCxnSpPr/>
          <p:nvPr/>
        </p:nvCxnSpPr>
        <p:spPr>
          <a:xfrm>
            <a:off x="8991600" y="2616200"/>
            <a:ext cx="0" cy="762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39000" y="2692400"/>
            <a:ext cx="3505200" cy="457200"/>
          </a:xfrm>
          <a:prstGeom prst="roundRect">
            <a:avLst>
              <a:gd name="adj" fmla="val 25000"/>
            </a:avLst>
          </a:prstGeom>
          <a:solidFill>
            <a:srgbClr val="FFBE0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36  </a:t>
            </a:r>
            <a:r>
              <a:rPr sz="1100" b="0" i="0">
                <a:solidFill>
                  <a:srgbClr val="0F0F0F"/>
                </a:solidFill>
                <a:latin typeface="Times New Roman"/>
              </a:rPr>
              <a:t>public addresses run by other people</a:t>
            </a:r>
          </a:p>
        </p:txBody>
      </p:sp>
      <p:cxnSp>
        <p:nvCxnSpPr>
          <p:cNvPr id="23" name="Connector 22"/>
          <p:cNvCxnSpPr/>
          <p:nvPr/>
        </p:nvCxnSpPr>
        <p:spPr>
          <a:xfrm>
            <a:off x="8991600" y="3149600"/>
            <a:ext cx="0" cy="762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05700" y="3225800"/>
            <a:ext cx="2971800" cy="457200"/>
          </a:xfrm>
          <a:prstGeom prst="roundRect">
            <a:avLst>
              <a:gd name="adj" fmla="val 25000"/>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FFFFFF"/>
                </a:solidFill>
                <a:latin typeface="Times New Roman"/>
              </a:rPr>
              <a:t>0  </a:t>
            </a:r>
            <a:r>
              <a:rPr sz="1100" b="0" i="0">
                <a:solidFill>
                  <a:srgbClr val="FFFFFF"/>
                </a:solidFill>
                <a:latin typeface="Times New Roman"/>
              </a:rPr>
              <a:t>accepted a task and did the work</a:t>
            </a:r>
          </a:p>
        </p:txBody>
      </p:sp>
      <p:sp>
        <p:nvSpPr>
          <p:cNvPr id="25" name="Evidence note"/>
          <p:cNvSpPr txBox="1"/>
          <p:nvPr/>
        </p:nvSpPr>
        <p:spPr>
          <a:xfrm>
            <a:off x="6705600" y="3784600"/>
            <a:ext cx="4572000" cy="431800"/>
          </a:xfrm>
          <a:prstGeom prst="rect">
            <a:avLst/>
          </a:prstGeom>
          <a:noFill/>
        </p:spPr>
        <p:txBody>
          <a:bodyPr wrap="square" lIns="0" tIns="0" rIns="0" bIns="0" anchor="t">
            <a:spAutoFit/>
          </a:bodyPr>
          <a:lstStyle/>
          <a:p>
            <a:pPr algn="l">
              <a:spcAft>
                <a:spcPts val="400"/>
              </a:spcAft>
            </a:pPr>
            <a:r>
              <a:rPr sz="1050" b="0" i="0">
                <a:solidFill>
                  <a:srgbClr val="5A5A5A"/>
                </a:solidFill>
                <a:latin typeface="Times New Roman"/>
              </a:rPr>
              <a:t>Also: one agent's 22 on-chain ratings all came from its own operator. SATI registry: only 31 of 122 agents list an endpoint.</a:t>
            </a:r>
          </a:p>
        </p:txBody>
      </p:sp>
      <p:sp>
        <p:nvSpPr>
          <p:cNvPr id="26" name="Cost label"/>
          <p:cNvSpPr txBox="1"/>
          <p:nvPr/>
        </p:nvSpPr>
        <p:spPr>
          <a:xfrm>
            <a:off x="787400" y="4318000"/>
            <a:ext cx="10541000" cy="2286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COST OF THE PROBLEM</a:t>
            </a:r>
          </a:p>
        </p:txBody>
      </p:sp>
      <p:sp>
        <p:nvSpPr>
          <p:cNvPr id="27" name="Cost 1"/>
          <p:cNvSpPr/>
          <p:nvPr/>
        </p:nvSpPr>
        <p:spPr>
          <a:xfrm>
            <a:off x="787400" y="4597400"/>
            <a:ext cx="2540000" cy="1498600"/>
          </a:xfrm>
          <a:prstGeom prst="roundRect">
            <a:avLst>
              <a:gd name="adj" fmla="val 8000"/>
            </a:avLst>
          </a:prstGeom>
          <a:solidFill>
            <a:srgbClr val="FDE3DA"/>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28" name="TextBox 27"/>
          <p:cNvSpPr txBox="1"/>
          <p:nvPr/>
        </p:nvSpPr>
        <p:spPr>
          <a:xfrm>
            <a:off x="914400" y="4699000"/>
            <a:ext cx="2286000" cy="381000"/>
          </a:xfrm>
          <a:prstGeom prst="rect">
            <a:avLst/>
          </a:prstGeom>
          <a:noFill/>
        </p:spPr>
        <p:txBody>
          <a:bodyPr wrap="square" lIns="0" tIns="0" rIns="0" bIns="0" anchor="ctr">
            <a:spAutoFit/>
          </a:bodyPr>
          <a:lstStyle/>
          <a:p>
            <a:pPr algn="l">
              <a:spcAft>
                <a:spcPts val="400"/>
              </a:spcAft>
            </a:pPr>
            <a:r>
              <a:rPr sz="1250" b="1" i="0">
                <a:solidFill>
                  <a:srgbClr val="0F0F0F"/>
                </a:solidFill>
                <a:latin typeface="Times New Roman"/>
              </a:rPr>
              <a:t>Wrong answers reach users</a:t>
            </a:r>
          </a:p>
        </p:txBody>
      </p:sp>
      <p:sp>
        <p:nvSpPr>
          <p:cNvPr id="29" name="TextBox 28"/>
          <p:cNvSpPr txBox="1"/>
          <p:nvPr/>
        </p:nvSpPr>
        <p:spPr>
          <a:xfrm>
            <a:off x="914400" y="5130800"/>
            <a:ext cx="2286000" cy="914400"/>
          </a:xfrm>
          <a:prstGeom prst="rect">
            <a:avLst/>
          </a:prstGeom>
          <a:noFill/>
        </p:spPr>
        <p:txBody>
          <a:bodyPr wrap="square" lIns="0" tIns="0" rIns="0" bIns="0" anchor="t">
            <a:spAutoFit/>
          </a:bodyPr>
          <a:lstStyle/>
          <a:p>
            <a:pPr algn="l">
              <a:spcAft>
                <a:spcPts val="400"/>
              </a:spcAft>
            </a:pPr>
            <a:r>
              <a:rPr sz="1150" b="0" i="0">
                <a:solidFill>
                  <a:srgbClr val="5A5A5A"/>
                </a:solidFill>
                <a:latin typeface="Times New Roman"/>
              </a:rPr>
              <a:t>In a fixed team with one bad agent, 4 of 38 claims in its answers (11%) had no source behind them.</a:t>
            </a:r>
          </a:p>
        </p:txBody>
      </p:sp>
      <p:sp>
        <p:nvSpPr>
          <p:cNvPr id="30" name="Cost 2"/>
          <p:cNvSpPr/>
          <p:nvPr/>
        </p:nvSpPr>
        <p:spPr>
          <a:xfrm>
            <a:off x="3454400" y="4597400"/>
            <a:ext cx="2540000" cy="1498600"/>
          </a:xfrm>
          <a:prstGeom prst="roundRect">
            <a:avLst>
              <a:gd name="adj" fmla="val 8000"/>
            </a:avLst>
          </a:prstGeom>
          <a:solidFill>
            <a:srgbClr val="FDE3DA"/>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1" name="TextBox 30"/>
          <p:cNvSpPr txBox="1"/>
          <p:nvPr/>
        </p:nvSpPr>
        <p:spPr>
          <a:xfrm>
            <a:off x="3581400" y="4699000"/>
            <a:ext cx="2286000" cy="381000"/>
          </a:xfrm>
          <a:prstGeom prst="rect">
            <a:avLst/>
          </a:prstGeom>
          <a:noFill/>
        </p:spPr>
        <p:txBody>
          <a:bodyPr wrap="square" lIns="0" tIns="0" rIns="0" bIns="0" anchor="ctr">
            <a:spAutoFit/>
          </a:bodyPr>
          <a:lstStyle/>
          <a:p>
            <a:pPr algn="l">
              <a:spcAft>
                <a:spcPts val="400"/>
              </a:spcAft>
            </a:pPr>
            <a:r>
              <a:rPr sz="1250" b="1" i="0">
                <a:solidFill>
                  <a:srgbClr val="0F0F0F"/>
                </a:solidFill>
                <a:latin typeface="Times New Roman"/>
              </a:rPr>
              <a:t>Wasted time on dead agents</a:t>
            </a:r>
          </a:p>
        </p:txBody>
      </p:sp>
      <p:sp>
        <p:nvSpPr>
          <p:cNvPr id="32" name="TextBox 31"/>
          <p:cNvSpPr txBox="1"/>
          <p:nvPr/>
        </p:nvSpPr>
        <p:spPr>
          <a:xfrm>
            <a:off x="3581400" y="5130800"/>
            <a:ext cx="2286000" cy="914400"/>
          </a:xfrm>
          <a:prstGeom prst="rect">
            <a:avLst/>
          </a:prstGeom>
          <a:noFill/>
        </p:spPr>
        <p:txBody>
          <a:bodyPr wrap="square" lIns="0" tIns="0" rIns="0" bIns="0" anchor="t">
            <a:spAutoFit/>
          </a:bodyPr>
          <a:lstStyle/>
          <a:p>
            <a:pPr algn="l">
              <a:spcAft>
                <a:spcPts val="400"/>
              </a:spcAft>
            </a:pPr>
            <a:r>
              <a:rPr sz="1150" b="0" i="0">
                <a:solidFill>
                  <a:srgbClr val="5A5A5A"/>
                </a:solidFill>
                <a:latin typeface="Times New Roman"/>
              </a:rPr>
              <a:t>98% of listings can't even be called; a dead or slow agent stalls a run for up to 30 s per call.</a:t>
            </a:r>
          </a:p>
        </p:txBody>
      </p:sp>
      <p:sp>
        <p:nvSpPr>
          <p:cNvPr id="33" name="Cost 3"/>
          <p:cNvSpPr/>
          <p:nvPr/>
        </p:nvSpPr>
        <p:spPr>
          <a:xfrm>
            <a:off x="6121400" y="4597400"/>
            <a:ext cx="2540000" cy="1498600"/>
          </a:xfrm>
          <a:prstGeom prst="roundRect">
            <a:avLst>
              <a:gd name="adj" fmla="val 8000"/>
            </a:avLst>
          </a:prstGeom>
          <a:solidFill>
            <a:srgbClr val="FDE3DA"/>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4" name="TextBox 33"/>
          <p:cNvSpPr txBox="1"/>
          <p:nvPr/>
        </p:nvSpPr>
        <p:spPr>
          <a:xfrm>
            <a:off x="6248400" y="4699000"/>
            <a:ext cx="2286000" cy="381000"/>
          </a:xfrm>
          <a:prstGeom prst="rect">
            <a:avLst/>
          </a:prstGeom>
          <a:noFill/>
        </p:spPr>
        <p:txBody>
          <a:bodyPr wrap="square" lIns="0" tIns="0" rIns="0" bIns="0" anchor="ctr">
            <a:spAutoFit/>
          </a:bodyPr>
          <a:lstStyle/>
          <a:p>
            <a:pPr algn="l">
              <a:spcAft>
                <a:spcPts val="400"/>
              </a:spcAft>
            </a:pPr>
            <a:r>
              <a:rPr sz="1250" b="1" i="0">
                <a:solidFill>
                  <a:srgbClr val="0F0F0F"/>
                </a:solidFill>
                <a:latin typeface="Times New Roman"/>
              </a:rPr>
              <a:t>Reputation can be faked</a:t>
            </a:r>
          </a:p>
        </p:txBody>
      </p:sp>
      <p:sp>
        <p:nvSpPr>
          <p:cNvPr id="35" name="TextBox 34"/>
          <p:cNvSpPr txBox="1"/>
          <p:nvPr/>
        </p:nvSpPr>
        <p:spPr>
          <a:xfrm>
            <a:off x="6248400" y="5130800"/>
            <a:ext cx="2286000" cy="914400"/>
          </a:xfrm>
          <a:prstGeom prst="rect">
            <a:avLst/>
          </a:prstGeom>
          <a:noFill/>
        </p:spPr>
        <p:txBody>
          <a:bodyPr wrap="square" lIns="0" tIns="0" rIns="0" bIns="0" anchor="t">
            <a:spAutoFit/>
          </a:bodyPr>
          <a:lstStyle/>
          <a:p>
            <a:pPr algn="l">
              <a:spcAft>
                <a:spcPts val="400"/>
              </a:spcAft>
            </a:pPr>
            <a:r>
              <a:rPr sz="1150" b="0" i="0">
                <a:solidFill>
                  <a:srgbClr val="5A5A5A"/>
                </a:solidFill>
                <a:latin typeface="Times New Roman"/>
              </a:rPr>
              <a:t>If operators rate their own agents, a high score means nothing, and bad agents keep getting hired.</a:t>
            </a:r>
          </a:p>
        </p:txBody>
      </p:sp>
      <p:sp>
        <p:nvSpPr>
          <p:cNvPr id="36" name="Cost 4"/>
          <p:cNvSpPr/>
          <p:nvPr/>
        </p:nvSpPr>
        <p:spPr>
          <a:xfrm>
            <a:off x="8788400" y="4597400"/>
            <a:ext cx="2540000" cy="1498600"/>
          </a:xfrm>
          <a:prstGeom prst="roundRect">
            <a:avLst>
              <a:gd name="adj" fmla="val 8000"/>
            </a:avLst>
          </a:prstGeom>
          <a:solidFill>
            <a:srgbClr val="FDE3DA"/>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7" name="TextBox 36"/>
          <p:cNvSpPr txBox="1"/>
          <p:nvPr/>
        </p:nvSpPr>
        <p:spPr>
          <a:xfrm>
            <a:off x="8915400" y="4699000"/>
            <a:ext cx="2286000" cy="381000"/>
          </a:xfrm>
          <a:prstGeom prst="rect">
            <a:avLst/>
          </a:prstGeom>
          <a:noFill/>
        </p:spPr>
        <p:txBody>
          <a:bodyPr wrap="square" lIns="0" tIns="0" rIns="0" bIns="0" anchor="ctr">
            <a:spAutoFit/>
          </a:bodyPr>
          <a:lstStyle/>
          <a:p>
            <a:pPr algn="l">
              <a:spcAft>
                <a:spcPts val="400"/>
              </a:spcAft>
            </a:pPr>
            <a:r>
              <a:rPr sz="1250" b="1" i="0">
                <a:solidFill>
                  <a:srgbClr val="0F0F0F"/>
                </a:solidFill>
                <a:latin typeface="Times New Roman"/>
              </a:rPr>
              <a:t>No accountability</a:t>
            </a:r>
          </a:p>
        </p:txBody>
      </p:sp>
      <p:sp>
        <p:nvSpPr>
          <p:cNvPr id="38" name="TextBox 37"/>
          <p:cNvSpPr txBox="1"/>
          <p:nvPr/>
        </p:nvSpPr>
        <p:spPr>
          <a:xfrm>
            <a:off x="8915400" y="5130800"/>
            <a:ext cx="2286000" cy="914400"/>
          </a:xfrm>
          <a:prstGeom prst="rect">
            <a:avLst/>
          </a:prstGeom>
          <a:noFill/>
        </p:spPr>
        <p:txBody>
          <a:bodyPr wrap="square" lIns="0" tIns="0" rIns="0" bIns="0" anchor="t">
            <a:spAutoFit/>
          </a:bodyPr>
          <a:lstStyle/>
          <a:p>
            <a:pPr algn="l">
              <a:spcAft>
                <a:spcPts val="400"/>
              </a:spcAft>
            </a:pPr>
            <a:r>
              <a:rPr sz="1150" b="0" i="0">
                <a:solidFill>
                  <a:srgbClr val="5A5A5A"/>
                </a:solidFill>
                <a:latin typeface="Times New Roman"/>
              </a:rPr>
              <a:t>When an answer is wrong, nobody can tell which agent made the claim or where it came from.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2" name="Rectangle 1"/>
          <p:cNvSpPr/>
          <p:nvPr/>
        </p:nvSpPr>
        <p:spPr>
          <a:xfrm>
            <a:off x="164592" y="137160"/>
            <a:ext cx="11859768" cy="6565392"/>
          </a:xfrm>
          <a:prstGeom prst="rect">
            <a:avLst/>
          </a:prstGeom>
          <a:noFill/>
          <a:ln w="13970">
            <a:solidFill>
              <a:srgbClr val="0F0F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vectorflow_watermark_medium.png"/>
          <p:cNvPicPr>
            <a:picLocks noChangeAspect="1"/>
          </p:cNvPicPr>
          <p:nvPr/>
        </p:nvPicPr>
        <p:blipFill>
          <a:blip r:embed="rId3"/>
          <a:stretch>
            <a:fillRect/>
          </a:stretch>
        </p:blipFill>
        <p:spPr>
          <a:xfrm>
            <a:off x="4142232" y="960120"/>
            <a:ext cx="3913632" cy="4937760"/>
          </a:xfrm>
          <a:prstGeom prst="rect">
            <a:avLst/>
          </a:prstGeom>
        </p:spPr>
      </p:pic>
      <p:sp>
        <p:nvSpPr>
          <p:cNvPr id="3" name="Rectangle 2"/>
          <p:cNvSpPr/>
          <p:nvPr/>
        </p:nvSpPr>
        <p:spPr>
          <a:xfrm>
            <a:off x="164592" y="137160"/>
            <a:ext cx="1783080" cy="109728"/>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137160"/>
            <a:ext cx="109728" cy="914400"/>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0652760" y="137160"/>
            <a:ext cx="1097280" cy="310896"/>
          </a:xfrm>
          <a:prstGeom prst="parallelogram">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914632" y="5029200"/>
            <a:ext cx="109728" cy="132588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326880" y="6583680"/>
            <a:ext cx="269748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4592" y="5623560"/>
            <a:ext cx="109728" cy="105156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4592" y="6583680"/>
            <a:ext cx="123444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02920"/>
            <a:ext cx="10789920" cy="502920"/>
          </a:xfrm>
          <a:prstGeom prst="rect">
            <a:avLst/>
          </a:prstGeom>
          <a:noFill/>
        </p:spPr>
        <p:txBody>
          <a:bodyPr wrap="square" lIns="18288" tIns="9144" rIns="18288" bIns="9144">
            <a:spAutoFit/>
          </a:bodyPr>
          <a:lstStyle/>
          <a:p>
            <a:pPr algn="l">
              <a:spcAft>
                <a:spcPts val="0"/>
              </a:spcAft>
            </a:pPr>
            <a:r>
              <a:rPr sz="2800" b="1">
                <a:solidFill>
                  <a:srgbClr val="0F0F0F"/>
                </a:solidFill>
                <a:latin typeface="Times New Roman"/>
              </a:rPr>
              <a:t>APPROACH</a:t>
            </a:r>
          </a:p>
        </p:txBody>
      </p:sp>
      <p:sp>
        <p:nvSpPr>
          <p:cNvPr id="11" name="Rectangle 10"/>
          <p:cNvSpPr/>
          <p:nvPr/>
        </p:nvSpPr>
        <p:spPr>
          <a:xfrm>
            <a:off x="566928" y="1234440"/>
            <a:ext cx="11018520" cy="5074920"/>
          </a:xfrm>
          <a:prstGeom prst="rect">
            <a:avLst/>
          </a:prstGeom>
          <a:noFill/>
          <a:ln w="1270">
            <a:solidFill>
              <a:srgbClr val="FFF9EB"/>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endParaRPr/>
          </a:p>
        </p:txBody>
      </p:sp>
      <p:sp>
        <p:nvSpPr>
          <p:cNvPr id="13" name="Solution statement"/>
          <p:cNvSpPr txBox="1"/>
          <p:nvPr/>
        </p:nvSpPr>
        <p:spPr>
          <a:xfrm>
            <a:off x="787400" y="1346200"/>
            <a:ext cx="10541000" cy="3302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SOLUTION  </a:t>
            </a:r>
            <a:r>
              <a:rPr sz="1400" b="1" i="0">
                <a:solidFill>
                  <a:srgbClr val="0F0F0F"/>
                </a:solidFill>
                <a:latin typeface="Times New Roman"/>
              </a:rPr>
              <a:t>Sworn: one hiring rule for every agent. </a:t>
            </a:r>
            <a:r>
              <a:rPr sz="1350" b="0" i="0">
                <a:solidFill>
                  <a:srgbClr val="0F0F0F"/>
                </a:solidFill>
                <a:latin typeface="Times New Roman"/>
              </a:rPr>
              <a:t>Screened the same way, every claim checked, every result on-chain.</a:t>
            </a:r>
          </a:p>
        </p:txBody>
      </p:sp>
      <p:sp>
        <p:nvSpPr>
          <p:cNvPr id="14" name="Step 1"/>
          <p:cNvSpPr/>
          <p:nvPr/>
        </p:nvSpPr>
        <p:spPr>
          <a:xfrm>
            <a:off x="787400" y="18542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Ask</a:t>
            </a:r>
          </a:p>
          <a:p>
            <a:pPr algn="ctr"/>
            <a:r>
              <a:rPr sz="1150" b="0" i="0">
                <a:solidFill>
                  <a:srgbClr val="5A5A5A"/>
                </a:solidFill>
                <a:latin typeface="Times New Roman"/>
              </a:rPr>
              <a:t>a research question; Sworn asks “which one?” if it is ambiguous</a:t>
            </a:r>
          </a:p>
        </p:txBody>
      </p:sp>
      <p:sp>
        <p:nvSpPr>
          <p:cNvPr id="15" name="Oval 14"/>
          <p:cNvSpPr/>
          <p:nvPr/>
        </p:nvSpPr>
        <p:spPr>
          <a:xfrm>
            <a:off x="673100" y="1739900"/>
            <a:ext cx="279400" cy="2794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1</a:t>
            </a:r>
          </a:p>
        </p:txBody>
      </p:sp>
      <p:cxnSp>
        <p:nvCxnSpPr>
          <p:cNvPr id="16" name="Connector 15"/>
          <p:cNvCxnSpPr/>
          <p:nvPr/>
        </p:nvCxnSpPr>
        <p:spPr>
          <a:xfrm>
            <a:off x="3225800" y="2374900"/>
            <a:ext cx="2413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tep 2"/>
          <p:cNvSpPr/>
          <p:nvPr/>
        </p:nvSpPr>
        <p:spPr>
          <a:xfrm>
            <a:off x="3492500" y="18542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Discover</a:t>
            </a:r>
          </a:p>
          <a:p>
            <a:pPr algn="ctr"/>
            <a:r>
              <a:rPr sz="1150" b="0" i="0">
                <a:solidFill>
                  <a:srgbClr val="5A5A5A"/>
                </a:solidFill>
                <a:latin typeface="Times New Roman"/>
              </a:rPr>
              <a:t>agents in the 8004 and SATI registries by the skill each job needs</a:t>
            </a:r>
          </a:p>
        </p:txBody>
      </p:sp>
      <p:sp>
        <p:nvSpPr>
          <p:cNvPr id="18" name="Oval 17"/>
          <p:cNvSpPr/>
          <p:nvPr/>
        </p:nvSpPr>
        <p:spPr>
          <a:xfrm>
            <a:off x="3378200" y="1739900"/>
            <a:ext cx="279400" cy="2794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2</a:t>
            </a:r>
          </a:p>
        </p:txBody>
      </p:sp>
      <p:cxnSp>
        <p:nvCxnSpPr>
          <p:cNvPr id="19" name="Connector 18"/>
          <p:cNvCxnSpPr/>
          <p:nvPr/>
        </p:nvCxnSpPr>
        <p:spPr>
          <a:xfrm>
            <a:off x="5930900" y="2374900"/>
            <a:ext cx="2413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tep 3"/>
          <p:cNvSpPr/>
          <p:nvPr/>
        </p:nvSpPr>
        <p:spPr>
          <a:xfrm>
            <a:off x="6197600" y="18542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Screen</a:t>
            </a:r>
          </a:p>
          <a:p>
            <a:pPr algn="ctr"/>
            <a:r>
              <a:rPr sz="1150" b="0" i="0">
                <a:solidFill>
                  <a:srgbClr val="5A5A5A"/>
                </a:solidFill>
                <a:latin typeface="Times New Roman"/>
              </a:rPr>
              <a:t>every candidate with the same three checks (below)</a:t>
            </a:r>
          </a:p>
        </p:txBody>
      </p:sp>
      <p:sp>
        <p:nvSpPr>
          <p:cNvPr id="21" name="Oval 20"/>
          <p:cNvSpPr/>
          <p:nvPr/>
        </p:nvSpPr>
        <p:spPr>
          <a:xfrm>
            <a:off x="6083300" y="1739900"/>
            <a:ext cx="279400" cy="2794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3</a:t>
            </a:r>
          </a:p>
        </p:txBody>
      </p:sp>
      <p:cxnSp>
        <p:nvCxnSpPr>
          <p:cNvPr id="22" name="Connector 21"/>
          <p:cNvCxnSpPr/>
          <p:nvPr/>
        </p:nvCxnSpPr>
        <p:spPr>
          <a:xfrm>
            <a:off x="8636000" y="2374900"/>
            <a:ext cx="2413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tep 4"/>
          <p:cNvSpPr/>
          <p:nvPr/>
        </p:nvSpPr>
        <p:spPr>
          <a:xfrm>
            <a:off x="8902700" y="18542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Hire</a:t>
            </a:r>
          </a:p>
          <a:p>
            <a:pPr algn="ctr"/>
            <a:r>
              <a:rPr sz="1150" b="0" i="0">
                <a:solidFill>
                  <a:srgbClr val="5A5A5A"/>
                </a:solidFill>
                <a:latin typeface="Times New Roman"/>
              </a:rPr>
              <a:t>a team of six roles, with a screened backup where possible</a:t>
            </a:r>
          </a:p>
        </p:txBody>
      </p:sp>
      <p:sp>
        <p:nvSpPr>
          <p:cNvPr id="24" name="Oval 23"/>
          <p:cNvSpPr/>
          <p:nvPr/>
        </p:nvSpPr>
        <p:spPr>
          <a:xfrm>
            <a:off x="8788400" y="1739900"/>
            <a:ext cx="279400" cy="2794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4</a:t>
            </a:r>
          </a:p>
        </p:txBody>
      </p:sp>
      <p:sp>
        <p:nvSpPr>
          <p:cNvPr id="25" name="Step 5"/>
          <p:cNvSpPr/>
          <p:nvPr/>
        </p:nvSpPr>
        <p:spPr>
          <a:xfrm>
            <a:off x="8902700" y="34544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Research</a:t>
            </a:r>
          </a:p>
          <a:p>
            <a:pPr algn="ctr"/>
            <a:r>
              <a:rPr sz="1150" b="0" i="0">
                <a:solidFill>
                  <a:srgbClr val="5A5A5A"/>
                </a:solidFill>
                <a:latin typeface="Times New Roman"/>
              </a:rPr>
              <a:t>find sources, extract facts, state claims with exact quotes</a:t>
            </a:r>
          </a:p>
        </p:txBody>
      </p:sp>
      <p:sp>
        <p:nvSpPr>
          <p:cNvPr id="26" name="Oval 25"/>
          <p:cNvSpPr/>
          <p:nvPr/>
        </p:nvSpPr>
        <p:spPr>
          <a:xfrm>
            <a:off x="8788400" y="3340100"/>
            <a:ext cx="279400" cy="2794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5</a:t>
            </a:r>
          </a:p>
        </p:txBody>
      </p:sp>
      <p:cxnSp>
        <p:nvCxnSpPr>
          <p:cNvPr id="27" name="Connector 26"/>
          <p:cNvCxnSpPr/>
          <p:nvPr/>
        </p:nvCxnSpPr>
        <p:spPr>
          <a:xfrm flipH="1">
            <a:off x="8636000" y="3975100"/>
            <a:ext cx="2413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tep 6"/>
          <p:cNvSpPr/>
          <p:nvPr/>
        </p:nvSpPr>
        <p:spPr>
          <a:xfrm>
            <a:off x="6197600" y="34544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Verify</a:t>
            </a:r>
          </a:p>
          <a:p>
            <a:pPr algn="ctr"/>
            <a:r>
              <a:rPr sz="1150" b="0" i="0">
                <a:solidFill>
                  <a:srgbClr val="5A5A5A"/>
                </a:solidFill>
                <a:latin typeface="Times New Roman"/>
              </a:rPr>
              <a:t>a different agent re-checks every quote on its source page</a:t>
            </a:r>
          </a:p>
        </p:txBody>
      </p:sp>
      <p:sp>
        <p:nvSpPr>
          <p:cNvPr id="29" name="Oval 28"/>
          <p:cNvSpPr/>
          <p:nvPr/>
        </p:nvSpPr>
        <p:spPr>
          <a:xfrm>
            <a:off x="6083300" y="3340100"/>
            <a:ext cx="279400" cy="2794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6</a:t>
            </a:r>
          </a:p>
        </p:txBody>
      </p:sp>
      <p:cxnSp>
        <p:nvCxnSpPr>
          <p:cNvPr id="30" name="Connector 29"/>
          <p:cNvCxnSpPr/>
          <p:nvPr/>
        </p:nvCxnSpPr>
        <p:spPr>
          <a:xfrm flipH="1">
            <a:off x="5930900" y="3975100"/>
            <a:ext cx="2413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Step 7"/>
          <p:cNvSpPr/>
          <p:nvPr/>
        </p:nvSpPr>
        <p:spPr>
          <a:xfrm>
            <a:off x="3492500" y="34544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Answer</a:t>
            </a:r>
          </a:p>
          <a:p>
            <a:pPr algn="ctr"/>
            <a:r>
              <a:rPr sz="1150" b="0" i="0">
                <a:solidFill>
                  <a:srgbClr val="5A5A5A"/>
                </a:solidFill>
                <a:latin typeface="Times New Roman"/>
              </a:rPr>
              <a:t>using verified claims only, every sentence cited</a:t>
            </a:r>
          </a:p>
        </p:txBody>
      </p:sp>
      <p:sp>
        <p:nvSpPr>
          <p:cNvPr id="32" name="Oval 31"/>
          <p:cNvSpPr/>
          <p:nvPr/>
        </p:nvSpPr>
        <p:spPr>
          <a:xfrm>
            <a:off x="3378200" y="3340100"/>
            <a:ext cx="279400" cy="2794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7</a:t>
            </a:r>
          </a:p>
        </p:txBody>
      </p:sp>
      <p:cxnSp>
        <p:nvCxnSpPr>
          <p:cNvPr id="33" name="Connector 32"/>
          <p:cNvCxnSpPr/>
          <p:nvPr/>
        </p:nvCxnSpPr>
        <p:spPr>
          <a:xfrm flipH="1">
            <a:off x="3225800" y="3975100"/>
            <a:ext cx="2413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Step 8"/>
          <p:cNvSpPr/>
          <p:nvPr/>
        </p:nvSpPr>
        <p:spPr>
          <a:xfrm>
            <a:off x="787400" y="3454400"/>
            <a:ext cx="2413000" cy="10414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500" b="1" i="0">
                <a:solidFill>
                  <a:srgbClr val="0F0F0F"/>
                </a:solidFill>
                <a:latin typeface="Times New Roman"/>
              </a:rPr>
              <a:t>Record</a:t>
            </a:r>
          </a:p>
          <a:p>
            <a:pPr algn="ctr"/>
            <a:r>
              <a:rPr sz="1150" b="0" i="0">
                <a:solidFill>
                  <a:srgbClr val="5A5A5A"/>
                </a:solidFill>
                <a:latin typeface="Times New Roman"/>
              </a:rPr>
              <a:t>each agent's score on Solana, linked to the full report</a:t>
            </a:r>
          </a:p>
        </p:txBody>
      </p:sp>
      <p:sp>
        <p:nvSpPr>
          <p:cNvPr id="35" name="Oval 34"/>
          <p:cNvSpPr/>
          <p:nvPr/>
        </p:nvSpPr>
        <p:spPr>
          <a:xfrm>
            <a:off x="673100" y="3340100"/>
            <a:ext cx="279400" cy="2794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8</a:t>
            </a:r>
          </a:p>
        </p:txBody>
      </p:sp>
      <p:cxnSp>
        <p:nvCxnSpPr>
          <p:cNvPr id="36" name="Connector 35"/>
          <p:cNvCxnSpPr/>
          <p:nvPr/>
        </p:nvCxnSpPr>
        <p:spPr>
          <a:xfrm>
            <a:off x="10109200" y="2921000"/>
            <a:ext cx="0" cy="50800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Check 1"/>
          <p:cNvSpPr/>
          <p:nvPr/>
        </p:nvSpPr>
        <p:spPr>
          <a:xfrm>
            <a:off x="787400" y="5080000"/>
            <a:ext cx="3378200" cy="635000"/>
          </a:xfrm>
          <a:prstGeom prst="roundRect">
            <a:avLst>
              <a:gd name="adj" fmla="val 20000"/>
            </a:avLst>
          </a:prstGeom>
          <a:solidFill>
            <a:srgbClr val="FFF0C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250" b="1" i="0">
                <a:solidFill>
                  <a:srgbClr val="0F0F0F"/>
                </a:solidFill>
                <a:latin typeface="Times New Roman"/>
              </a:rPr>
              <a:t>Independent reputation</a:t>
            </a:r>
          </a:p>
          <a:p>
            <a:pPr algn="ctr"/>
            <a:r>
              <a:rPr sz="1050" b="0" i="0">
                <a:solidFill>
                  <a:srgbClr val="5A5A5A"/>
                </a:solidFill>
                <a:latin typeface="Times New Roman"/>
              </a:rPr>
              <a:t>on-chain ratings; the agent's own operator's ratings are ignored</a:t>
            </a:r>
          </a:p>
        </p:txBody>
      </p:sp>
      <p:sp>
        <p:nvSpPr>
          <p:cNvPr id="38" name="Check 2"/>
          <p:cNvSpPr/>
          <p:nvPr/>
        </p:nvSpPr>
        <p:spPr>
          <a:xfrm>
            <a:off x="4343400" y="5080000"/>
            <a:ext cx="3378200" cy="635000"/>
          </a:xfrm>
          <a:prstGeom prst="roundRect">
            <a:avLst>
              <a:gd name="adj" fmla="val 20000"/>
            </a:avLst>
          </a:prstGeom>
          <a:solidFill>
            <a:srgbClr val="FFF0C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250" b="1" i="0">
                <a:solidFill>
                  <a:srgbClr val="0F0F0F"/>
                </a:solidFill>
                <a:latin typeface="Times New Roman"/>
              </a:rPr>
              <a:t>Alive</a:t>
            </a:r>
          </a:p>
          <a:p>
            <a:pPr algn="ctr"/>
            <a:r>
              <a:rPr sz="1050" b="0" i="0">
                <a:solidFill>
                  <a:srgbClr val="5A5A5A"/>
                </a:solidFill>
                <a:latin typeface="Times New Roman"/>
              </a:rPr>
              <a:t>its address answers (an MCP handshake for MCP servers)</a:t>
            </a:r>
          </a:p>
        </p:txBody>
      </p:sp>
      <p:sp>
        <p:nvSpPr>
          <p:cNvPr id="39" name="Check 3"/>
          <p:cNvSpPr/>
          <p:nvPr/>
        </p:nvSpPr>
        <p:spPr>
          <a:xfrm>
            <a:off x="7899400" y="5080000"/>
            <a:ext cx="3378200" cy="635000"/>
          </a:xfrm>
          <a:prstGeom prst="roundRect">
            <a:avLst>
              <a:gd name="adj" fmla="val 20000"/>
            </a:avLst>
          </a:prstGeom>
          <a:solidFill>
            <a:srgbClr val="FFF0C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250" b="1" i="0">
                <a:solidFill>
                  <a:srgbClr val="0F0F0F"/>
                </a:solidFill>
                <a:latin typeface="Times New Roman"/>
              </a:rPr>
              <a:t>Standard benchmark</a:t>
            </a:r>
          </a:p>
          <a:p>
            <a:pPr algn="ctr"/>
            <a:r>
              <a:rPr sz="1050" b="0" i="0">
                <a:solidFill>
                  <a:srgbClr val="5A5A5A"/>
                </a:solidFill>
                <a:latin typeface="Times New Roman"/>
              </a:rPr>
              <a:t>same public test items for all; 5 equal aspects; 60/100 to pass</a:t>
            </a:r>
          </a:p>
        </p:txBody>
      </p:sp>
      <p:sp>
        <p:nvSpPr>
          <p:cNvPr id="40" name="Approach footer"/>
          <p:cNvSpPr txBox="1"/>
          <p:nvPr/>
        </p:nvSpPr>
        <p:spPr>
          <a:xfrm>
            <a:off x="787400" y="5778500"/>
            <a:ext cx="10541000" cy="381000"/>
          </a:xfrm>
          <a:prstGeom prst="rect">
            <a:avLst/>
          </a:prstGeom>
          <a:noFill/>
        </p:spPr>
        <p:txBody>
          <a:bodyPr wrap="square" lIns="0" tIns="0" rIns="0" bIns="0" anchor="t">
            <a:spAutoFit/>
          </a:bodyPr>
          <a:lstStyle/>
          <a:p>
            <a:pPr algn="l">
              <a:spcAft>
                <a:spcPts val="400"/>
              </a:spcAft>
            </a:pPr>
            <a:r>
              <a:rPr sz="1200" b="1" i="0">
                <a:solidFill>
                  <a:srgbClr val="F44C25"/>
                </a:solidFill>
                <a:latin typeface="Times New Roman"/>
              </a:rPr>
              <a:t>Step 3 checks  ·  </a:t>
            </a:r>
            <a:r>
              <a:rPr sz="1200" b="0" i="0">
                <a:solidFill>
                  <a:srgbClr val="0F0F0F"/>
                </a:solidFill>
                <a:latin typeface="Times New Roman"/>
              </a:rPr>
              <a:t>Fail any one and the agent is out.   </a:t>
            </a:r>
            <a:r>
              <a:rPr sz="1200" b="1" i="0">
                <a:solidFill>
                  <a:srgbClr val="F44C25"/>
                </a:solidFill>
                <a:latin typeface="Times New Roman"/>
              </a:rPr>
              <a:t>Failover  ·  </a:t>
            </a:r>
            <a:r>
              <a:rPr sz="1200" b="0" i="0">
                <a:solidFill>
                  <a:srgbClr val="0F0F0F"/>
                </a:solidFill>
                <a:latin typeface="Times New Roman"/>
              </a:rPr>
              <a:t>if a hired agent dies mid-task, a screened backup takes over and the run continues.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2" name="Rectangle 1"/>
          <p:cNvSpPr/>
          <p:nvPr/>
        </p:nvSpPr>
        <p:spPr>
          <a:xfrm>
            <a:off x="164592" y="137160"/>
            <a:ext cx="11859768" cy="6565392"/>
          </a:xfrm>
          <a:prstGeom prst="rect">
            <a:avLst/>
          </a:prstGeom>
          <a:noFill/>
          <a:ln w="13970">
            <a:solidFill>
              <a:srgbClr val="0F0F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vectorflow_watermark_medium.png"/>
          <p:cNvPicPr>
            <a:picLocks noChangeAspect="1"/>
          </p:cNvPicPr>
          <p:nvPr/>
        </p:nvPicPr>
        <p:blipFill>
          <a:blip r:embed="rId3"/>
          <a:stretch>
            <a:fillRect/>
          </a:stretch>
        </p:blipFill>
        <p:spPr>
          <a:xfrm>
            <a:off x="4142232" y="960120"/>
            <a:ext cx="3913632" cy="4937760"/>
          </a:xfrm>
          <a:prstGeom prst="rect">
            <a:avLst/>
          </a:prstGeom>
        </p:spPr>
      </p:pic>
      <p:sp>
        <p:nvSpPr>
          <p:cNvPr id="3" name="Rectangle 2"/>
          <p:cNvSpPr/>
          <p:nvPr/>
        </p:nvSpPr>
        <p:spPr>
          <a:xfrm>
            <a:off x="164592" y="137160"/>
            <a:ext cx="1783080" cy="109728"/>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137160"/>
            <a:ext cx="109728" cy="914400"/>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0652760" y="137160"/>
            <a:ext cx="1097280" cy="310896"/>
          </a:xfrm>
          <a:prstGeom prst="parallelogram">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914632" y="5029200"/>
            <a:ext cx="109728" cy="132588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326880" y="6583680"/>
            <a:ext cx="269748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4592" y="5623560"/>
            <a:ext cx="109728" cy="105156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4592" y="6583680"/>
            <a:ext cx="123444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02920"/>
            <a:ext cx="10789920" cy="502920"/>
          </a:xfrm>
          <a:prstGeom prst="rect">
            <a:avLst/>
          </a:prstGeom>
          <a:noFill/>
        </p:spPr>
        <p:txBody>
          <a:bodyPr wrap="square" lIns="18288" tIns="9144" rIns="18288" bIns="9144">
            <a:spAutoFit/>
          </a:bodyPr>
          <a:lstStyle/>
          <a:p>
            <a:pPr algn="l">
              <a:spcAft>
                <a:spcPts val="0"/>
              </a:spcAft>
            </a:pPr>
            <a:r>
              <a:rPr sz="2800" b="1">
                <a:solidFill>
                  <a:srgbClr val="0F0F0F"/>
                </a:solidFill>
                <a:latin typeface="Times New Roman"/>
              </a:rPr>
              <a:t>IMPLEMENTATION OF CHALLENGE</a:t>
            </a:r>
          </a:p>
        </p:txBody>
      </p:sp>
      <p:sp>
        <p:nvSpPr>
          <p:cNvPr id="11" name="Rectangle 10"/>
          <p:cNvSpPr/>
          <p:nvPr/>
        </p:nvSpPr>
        <p:spPr>
          <a:xfrm>
            <a:off x="566928" y="1234440"/>
            <a:ext cx="11018520" cy="5074920"/>
          </a:xfrm>
          <a:prstGeom prst="rect">
            <a:avLst/>
          </a:prstGeom>
          <a:noFill/>
          <a:ln w="1270">
            <a:solidFill>
              <a:srgbClr val="FFF9EB"/>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endParaRPr/>
          </a:p>
        </p:txBody>
      </p:sp>
      <p:sp>
        <p:nvSpPr>
          <p:cNvPr id="13" name="Stack"/>
          <p:cNvSpPr txBox="1"/>
          <p:nvPr/>
        </p:nvSpPr>
        <p:spPr>
          <a:xfrm>
            <a:off x="787400" y="1346200"/>
            <a:ext cx="1574800" cy="1524000"/>
          </a:xfrm>
          <a:prstGeom prst="rect">
            <a:avLst/>
          </a:prstGeom>
          <a:noFill/>
        </p:spPr>
        <p:txBody>
          <a:bodyPr wrap="square" lIns="0" tIns="0" rIns="0" bIns="0" anchor="t">
            <a:spAutoFit/>
          </a:bodyPr>
          <a:lstStyle/>
          <a:p>
            <a:pPr algn="l">
              <a:spcAft>
                <a:spcPts val="200"/>
              </a:spcAft>
            </a:pPr>
            <a:r>
              <a:rPr sz="1050" b="1" i="0">
                <a:solidFill>
                  <a:srgbClr val="F44C25"/>
                </a:solidFill>
                <a:latin typeface="Times New Roman"/>
              </a:rPr>
              <a:t>Built with</a:t>
            </a:r>
          </a:p>
          <a:p>
            <a:pPr algn="l">
              <a:spcAft>
                <a:spcPts val="200"/>
              </a:spcAft>
            </a:pPr>
            <a:r>
              <a:rPr sz="900" b="0" i="0">
                <a:solidFill>
                  <a:srgbClr val="0F0F0F"/>
                </a:solidFill>
                <a:latin typeface="Times New Roman"/>
              </a:rPr>
              <a:t>Python · FastAPI · LangGraph</a:t>
            </a:r>
          </a:p>
          <a:p>
            <a:pPr algn="l">
              <a:spcAft>
                <a:spcPts val="200"/>
              </a:spcAft>
            </a:pPr>
            <a:r>
              <a:rPr sz="900" b="0" i="0">
                <a:solidFill>
                  <a:srgbClr val="0F0F0F"/>
                </a:solidFill>
                <a:latin typeface="Times New Roman"/>
              </a:rPr>
              <a:t>Next.js · TypeScript · Tailwind</a:t>
            </a:r>
          </a:p>
          <a:p>
            <a:pPr algn="l">
              <a:spcAft>
                <a:spcPts val="200"/>
              </a:spcAft>
            </a:pPr>
            <a:r>
              <a:rPr sz="900" b="0" i="0">
                <a:solidFill>
                  <a:srgbClr val="0F0F0F"/>
                </a:solidFill>
                <a:latin typeface="Times New Roman"/>
              </a:rPr>
              <a:t>Node · @solana/web3.js · 8004-solana SDK</a:t>
            </a:r>
          </a:p>
          <a:p>
            <a:pPr algn="l">
              <a:spcAft>
                <a:spcPts val="200"/>
              </a:spcAft>
            </a:pPr>
            <a:r>
              <a:rPr sz="900" b="0" i="0">
                <a:solidFill>
                  <a:srgbClr val="0F0F0F"/>
                </a:solidFill>
                <a:latin typeface="Times New Roman"/>
              </a:rPr>
              <a:t>PostgreSQL · Redis · Docker · CI</a:t>
            </a:r>
          </a:p>
        </p:txBody>
      </p:sp>
      <p:sp>
        <p:nvSpPr>
          <p:cNvPr id="14" name="User question"/>
          <p:cNvSpPr/>
          <p:nvPr/>
        </p:nvSpPr>
        <p:spPr>
          <a:xfrm>
            <a:off x="787400" y="3022600"/>
            <a:ext cx="1422400" cy="5080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00" b="1" i="0">
                <a:solidFill>
                  <a:srgbClr val="0F0F0F"/>
                </a:solidFill>
                <a:latin typeface="Times New Roman"/>
              </a:rPr>
              <a:t>User research question</a:t>
            </a:r>
          </a:p>
        </p:txBody>
      </p:sp>
      <p:sp>
        <p:nvSpPr>
          <p:cNvPr id="15" name="Orchestrator"/>
          <p:cNvSpPr/>
          <p:nvPr/>
        </p:nvSpPr>
        <p:spPr>
          <a:xfrm>
            <a:off x="2489200" y="2921000"/>
            <a:ext cx="1905000" cy="990600"/>
          </a:xfrm>
          <a:prstGeom prst="roundRect">
            <a:avLst>
              <a:gd name="adj" fmla="val 12000"/>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250" b="1" i="0">
                <a:solidFill>
                  <a:srgbClr val="FFFFFF"/>
                </a:solidFill>
                <a:latin typeface="Times New Roman"/>
              </a:rPr>
              <a:t>Orchestrator agent</a:t>
            </a:r>
          </a:p>
          <a:p>
            <a:pPr algn="ctr"/>
            <a:r>
              <a:rPr sz="900" b="0" i="0">
                <a:solidFill>
                  <a:srgbClr val="C8C8C8"/>
                </a:solidFill>
                <a:latin typeface="Times New Roman"/>
              </a:rPr>
              <a:t>LangGraph state machine</a:t>
            </a:r>
          </a:p>
        </p:txBody>
      </p:sp>
      <p:cxnSp>
        <p:nvCxnSpPr>
          <p:cNvPr id="16" name="Connector 15"/>
          <p:cNvCxnSpPr/>
          <p:nvPr/>
        </p:nvCxnSpPr>
        <p:spPr>
          <a:xfrm>
            <a:off x="2235200" y="3276600"/>
            <a:ext cx="2286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Planner"/>
          <p:cNvSpPr/>
          <p:nvPr/>
        </p:nvSpPr>
        <p:spPr>
          <a:xfrm>
            <a:off x="2489200" y="1752600"/>
            <a:ext cx="1270000" cy="4572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Planner agent</a:t>
            </a:r>
          </a:p>
        </p:txBody>
      </p:sp>
      <p:cxnSp>
        <p:nvCxnSpPr>
          <p:cNvPr id="18" name="Connector 17"/>
          <p:cNvCxnSpPr/>
          <p:nvPr/>
        </p:nvCxnSpPr>
        <p:spPr>
          <a:xfrm flipV="1">
            <a:off x="2997200" y="2235200"/>
            <a:ext cx="0" cy="6858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048000" y="2463800"/>
            <a:ext cx="889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3 plan sub-questions</a:t>
            </a:r>
          </a:p>
        </p:txBody>
      </p:sp>
      <p:sp>
        <p:nvSpPr>
          <p:cNvPr id="20" name="Final report"/>
          <p:cNvSpPr/>
          <p:nvPr/>
        </p:nvSpPr>
        <p:spPr>
          <a:xfrm>
            <a:off x="787400" y="4038600"/>
            <a:ext cx="1422400" cy="5080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Final report</a:t>
            </a:r>
          </a:p>
          <a:p>
            <a:pPr algn="ctr"/>
            <a:r>
              <a:rPr sz="850" b="0" i="0">
                <a:solidFill>
                  <a:srgbClr val="5A5A5A"/>
                </a:solidFill>
                <a:latin typeface="Times New Roman"/>
              </a:rPr>
              <a:t>sources + agent IDs</a:t>
            </a:r>
          </a:p>
        </p:txBody>
      </p:sp>
      <p:cxnSp>
        <p:nvCxnSpPr>
          <p:cNvPr id="21" name="Connector 20"/>
          <p:cNvCxnSpPr/>
          <p:nvPr/>
        </p:nvCxnSpPr>
        <p:spPr>
          <a:xfrm flipH="1">
            <a:off x="2362200" y="3810000"/>
            <a:ext cx="127000" cy="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62200" y="3810000"/>
            <a:ext cx="0" cy="48260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235200" y="4292600"/>
            <a:ext cx="127000" cy="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7400" y="4597400"/>
            <a:ext cx="1651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6 final answer, cited</a:t>
            </a:r>
          </a:p>
        </p:txBody>
      </p:sp>
      <p:sp>
        <p:nvSpPr>
          <p:cNvPr id="25" name="Screening"/>
          <p:cNvSpPr/>
          <p:nvPr/>
        </p:nvSpPr>
        <p:spPr>
          <a:xfrm>
            <a:off x="4826000" y="1422400"/>
            <a:ext cx="2286000" cy="939800"/>
          </a:xfrm>
          <a:prstGeom prst="roundRect">
            <a:avLst>
              <a:gd name="adj" fmla="val 15000"/>
            </a:avLst>
          </a:prstGeom>
          <a:solidFill>
            <a:srgbClr val="FFF0C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200" b="1" i="0">
                <a:solidFill>
                  <a:srgbClr val="0F0F0F"/>
                </a:solidFill>
                <a:latin typeface="Times New Roman"/>
              </a:rPr>
              <a:t>Screening</a:t>
            </a:r>
          </a:p>
          <a:p>
            <a:pPr algn="ctr"/>
            <a:r>
              <a:rPr sz="900" b="0" i="0">
                <a:solidFill>
                  <a:srgbClr val="5A5A5A"/>
                </a:solidFill>
                <a:latin typeface="Times New Roman"/>
              </a:rPr>
              <a:t>independent reputation · alive ·</a:t>
            </a:r>
          </a:p>
          <a:p>
            <a:pPr algn="ctr"/>
            <a:r>
              <a:rPr sz="900" b="0" i="0">
                <a:solidFill>
                  <a:srgbClr val="5A5A5A"/>
                </a:solidFill>
                <a:latin typeface="Times New Roman"/>
              </a:rPr>
              <a:t>standard benchmark (60/100)</a:t>
            </a:r>
          </a:p>
        </p:txBody>
      </p:sp>
      <p:cxnSp>
        <p:nvCxnSpPr>
          <p:cNvPr id="26" name="Connector 25"/>
          <p:cNvCxnSpPr/>
          <p:nvPr/>
        </p:nvCxnSpPr>
        <p:spPr>
          <a:xfrm flipV="1">
            <a:off x="4064000" y="1905000"/>
            <a:ext cx="0" cy="101600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64000" y="1905000"/>
            <a:ext cx="736600" cy="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40200" y="1727200"/>
            <a:ext cx="6604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candidates</a:t>
            </a:r>
          </a:p>
        </p:txBody>
      </p:sp>
      <p:sp>
        <p:nvSpPr>
          <p:cNvPr id="29" name="Rejected"/>
          <p:cNvSpPr/>
          <p:nvPr/>
        </p:nvSpPr>
        <p:spPr>
          <a:xfrm>
            <a:off x="4876800" y="2463800"/>
            <a:ext cx="1168400" cy="228600"/>
          </a:xfrm>
          <a:prstGeom prst="roundRect">
            <a:avLst>
              <a:gd name="adj" fmla="val 30000"/>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900" b="1" i="0">
                <a:solidFill>
                  <a:srgbClr val="FFFFFF"/>
                </a:solidFill>
                <a:latin typeface="Times New Roman"/>
              </a:rPr>
              <a:t>fail → rejected</a:t>
            </a:r>
          </a:p>
        </p:txBody>
      </p:sp>
      <p:sp>
        <p:nvSpPr>
          <p:cNvPr id="30" name="Hired team"/>
          <p:cNvSpPr/>
          <p:nvPr/>
        </p:nvSpPr>
        <p:spPr>
          <a:xfrm>
            <a:off x="7620000" y="1320800"/>
            <a:ext cx="3708400" cy="3683000"/>
          </a:xfrm>
          <a:prstGeom prst="roundRect">
            <a:avLst>
              <a:gd name="adj" fmla="val 4000"/>
            </a:avLst>
          </a:prstGeom>
          <a:solidFill>
            <a:srgbClr val="F7F1E3"/>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1" name="TextBox 30"/>
          <p:cNvSpPr txBox="1"/>
          <p:nvPr/>
        </p:nvSpPr>
        <p:spPr>
          <a:xfrm>
            <a:off x="7772400" y="1371600"/>
            <a:ext cx="2540000" cy="152400"/>
          </a:xfrm>
          <a:prstGeom prst="rect">
            <a:avLst/>
          </a:prstGeom>
          <a:noFill/>
        </p:spPr>
        <p:txBody>
          <a:bodyPr wrap="square" lIns="0" tIns="0" rIns="0" bIns="0" anchor="t">
            <a:spAutoFit/>
          </a:bodyPr>
          <a:lstStyle/>
          <a:p>
            <a:pPr algn="l">
              <a:spcAft>
                <a:spcPts val="400"/>
              </a:spcAft>
            </a:pPr>
            <a:r>
              <a:rPr sz="1000" b="1" i="0">
                <a:solidFill>
                  <a:srgbClr val="0F0F0F"/>
                </a:solidFill>
                <a:latin typeface="Times New Roman"/>
              </a:rPr>
              <a:t>Hired agent team</a:t>
            </a:r>
          </a:p>
        </p:txBody>
      </p:sp>
      <p:cxnSp>
        <p:nvCxnSpPr>
          <p:cNvPr id="32" name="Connector 31"/>
          <p:cNvCxnSpPr/>
          <p:nvPr/>
        </p:nvCxnSpPr>
        <p:spPr>
          <a:xfrm>
            <a:off x="7112000" y="1905000"/>
            <a:ext cx="4826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137400" y="1727200"/>
            <a:ext cx="508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pass: hired</a:t>
            </a:r>
          </a:p>
        </p:txBody>
      </p:sp>
      <p:sp>
        <p:nvSpPr>
          <p:cNvPr id="34" name="Retriever agent"/>
          <p:cNvSpPr/>
          <p:nvPr/>
        </p:nvSpPr>
        <p:spPr>
          <a:xfrm>
            <a:off x="7823200" y="1625600"/>
            <a:ext cx="2032000" cy="3810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Retriever agent</a:t>
            </a:r>
          </a:p>
        </p:txBody>
      </p:sp>
      <p:cxnSp>
        <p:nvCxnSpPr>
          <p:cNvPr id="35" name="Connector 34"/>
          <p:cNvCxnSpPr/>
          <p:nvPr/>
        </p:nvCxnSpPr>
        <p:spPr>
          <a:xfrm>
            <a:off x="8839200" y="2006600"/>
            <a:ext cx="0" cy="24130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915400" y="2044700"/>
            <a:ext cx="1524000" cy="152400"/>
          </a:xfrm>
          <a:prstGeom prst="rect">
            <a:avLst/>
          </a:prstGeom>
          <a:noFill/>
        </p:spPr>
        <p:txBody>
          <a:bodyPr wrap="square" lIns="0" tIns="0" rIns="0" bIns="0" anchor="t">
            <a:spAutoFit/>
          </a:bodyPr>
          <a:lstStyle/>
          <a:p>
            <a:pPr algn="l">
              <a:spcAft>
                <a:spcPts val="400"/>
              </a:spcAft>
            </a:pPr>
            <a:r>
              <a:rPr sz="850" b="0" i="0">
                <a:solidFill>
                  <a:srgbClr val="5A5A5A"/>
                </a:solidFill>
                <a:latin typeface="Times New Roman"/>
              </a:rPr>
              <a:t>sources + agent ID</a:t>
            </a:r>
          </a:p>
        </p:txBody>
      </p:sp>
      <p:sp>
        <p:nvSpPr>
          <p:cNvPr id="37" name="Reader agent"/>
          <p:cNvSpPr/>
          <p:nvPr/>
        </p:nvSpPr>
        <p:spPr>
          <a:xfrm>
            <a:off x="7823200" y="2260600"/>
            <a:ext cx="2032000" cy="3810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Reader agent</a:t>
            </a:r>
          </a:p>
        </p:txBody>
      </p:sp>
      <p:cxnSp>
        <p:nvCxnSpPr>
          <p:cNvPr id="38" name="Connector 37"/>
          <p:cNvCxnSpPr/>
          <p:nvPr/>
        </p:nvCxnSpPr>
        <p:spPr>
          <a:xfrm>
            <a:off x="8839200" y="2641600"/>
            <a:ext cx="0" cy="24130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915400" y="2679700"/>
            <a:ext cx="1524000" cy="152400"/>
          </a:xfrm>
          <a:prstGeom prst="rect">
            <a:avLst/>
          </a:prstGeom>
          <a:noFill/>
        </p:spPr>
        <p:txBody>
          <a:bodyPr wrap="square" lIns="0" tIns="0" rIns="0" bIns="0" anchor="t">
            <a:spAutoFit/>
          </a:bodyPr>
          <a:lstStyle/>
          <a:p>
            <a:pPr algn="l">
              <a:spcAft>
                <a:spcPts val="400"/>
              </a:spcAft>
            </a:pPr>
            <a:r>
              <a:rPr sz="850" b="0" i="0">
                <a:solidFill>
                  <a:srgbClr val="5A5A5A"/>
                </a:solidFill>
                <a:latin typeface="Times New Roman"/>
              </a:rPr>
              <a:t>facts + agent ID</a:t>
            </a:r>
          </a:p>
        </p:txBody>
      </p:sp>
      <p:sp>
        <p:nvSpPr>
          <p:cNvPr id="40" name="Reasoner agent"/>
          <p:cNvSpPr/>
          <p:nvPr/>
        </p:nvSpPr>
        <p:spPr>
          <a:xfrm>
            <a:off x="7823200" y="2895600"/>
            <a:ext cx="2032000" cy="3810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Reasoner agent</a:t>
            </a:r>
          </a:p>
        </p:txBody>
      </p:sp>
      <p:cxnSp>
        <p:nvCxnSpPr>
          <p:cNvPr id="41" name="Connector 40"/>
          <p:cNvCxnSpPr/>
          <p:nvPr/>
        </p:nvCxnSpPr>
        <p:spPr>
          <a:xfrm>
            <a:off x="8839200" y="3276600"/>
            <a:ext cx="0" cy="24130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915400" y="3314700"/>
            <a:ext cx="1524000" cy="152400"/>
          </a:xfrm>
          <a:prstGeom prst="rect">
            <a:avLst/>
          </a:prstGeom>
          <a:noFill/>
        </p:spPr>
        <p:txBody>
          <a:bodyPr wrap="square" lIns="0" tIns="0" rIns="0" bIns="0" anchor="t">
            <a:spAutoFit/>
          </a:bodyPr>
          <a:lstStyle/>
          <a:p>
            <a:pPr algn="l">
              <a:spcAft>
                <a:spcPts val="400"/>
              </a:spcAft>
            </a:pPr>
            <a:r>
              <a:rPr sz="850" b="0" i="0">
                <a:solidFill>
                  <a:srgbClr val="5A5A5A"/>
                </a:solidFill>
                <a:latin typeface="Times New Roman"/>
              </a:rPr>
              <a:t>claims + agent ID</a:t>
            </a:r>
          </a:p>
        </p:txBody>
      </p:sp>
      <p:sp>
        <p:nvSpPr>
          <p:cNvPr id="43" name="Verifier agent (≠ producer)"/>
          <p:cNvSpPr/>
          <p:nvPr/>
        </p:nvSpPr>
        <p:spPr>
          <a:xfrm>
            <a:off x="7823200" y="3530600"/>
            <a:ext cx="2032000" cy="4318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Verifier agent (≠ producer)</a:t>
            </a:r>
          </a:p>
        </p:txBody>
      </p:sp>
      <p:cxnSp>
        <p:nvCxnSpPr>
          <p:cNvPr id="44" name="Connector 43"/>
          <p:cNvCxnSpPr/>
          <p:nvPr/>
        </p:nvCxnSpPr>
        <p:spPr>
          <a:xfrm>
            <a:off x="8839200" y="3962400"/>
            <a:ext cx="0" cy="26670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915400" y="4000500"/>
            <a:ext cx="1524000" cy="152400"/>
          </a:xfrm>
          <a:prstGeom prst="rect">
            <a:avLst/>
          </a:prstGeom>
          <a:noFill/>
        </p:spPr>
        <p:txBody>
          <a:bodyPr wrap="square" lIns="0" tIns="0" rIns="0" bIns="0" anchor="t">
            <a:spAutoFit/>
          </a:bodyPr>
          <a:lstStyle/>
          <a:p>
            <a:pPr algn="l">
              <a:spcAft>
                <a:spcPts val="400"/>
              </a:spcAft>
            </a:pPr>
            <a:r>
              <a:rPr sz="850" b="0" i="0">
                <a:solidFill>
                  <a:srgbClr val="5A5A5A"/>
                </a:solidFill>
                <a:latin typeface="Times New Roman"/>
              </a:rPr>
              <a:t>verified claims</a:t>
            </a:r>
          </a:p>
        </p:txBody>
      </p:sp>
      <p:sp>
        <p:nvSpPr>
          <p:cNvPr id="46" name="Generator agent"/>
          <p:cNvSpPr/>
          <p:nvPr/>
        </p:nvSpPr>
        <p:spPr>
          <a:xfrm>
            <a:off x="7823200" y="4241800"/>
            <a:ext cx="2032000" cy="3810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0F0F0F"/>
                </a:solidFill>
                <a:latin typeface="Times New Roman"/>
              </a:rPr>
              <a:t>Generator agent</a:t>
            </a:r>
          </a:p>
        </p:txBody>
      </p:sp>
      <p:cxnSp>
        <p:nvCxnSpPr>
          <p:cNvPr id="47" name="Connector 46"/>
          <p:cNvCxnSpPr/>
          <p:nvPr/>
        </p:nvCxnSpPr>
        <p:spPr>
          <a:xfrm>
            <a:off x="4394200" y="3124200"/>
            <a:ext cx="32004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572000" y="2971800"/>
            <a:ext cx="2540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4 assign subtasks</a:t>
            </a:r>
          </a:p>
        </p:txBody>
      </p:sp>
      <p:cxnSp>
        <p:nvCxnSpPr>
          <p:cNvPr id="49" name="Connector 48"/>
          <p:cNvCxnSpPr/>
          <p:nvPr/>
        </p:nvCxnSpPr>
        <p:spPr>
          <a:xfrm flipH="1">
            <a:off x="4419600" y="3429000"/>
            <a:ext cx="317500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69000" y="3276600"/>
            <a:ext cx="1524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draft answer</a:t>
            </a:r>
          </a:p>
        </p:txBody>
      </p:sp>
      <p:cxnSp>
        <p:nvCxnSpPr>
          <p:cNvPr id="51" name="Connector 50"/>
          <p:cNvCxnSpPr/>
          <p:nvPr/>
        </p:nvCxnSpPr>
        <p:spPr>
          <a:xfrm flipH="1">
            <a:off x="4419600" y="3759200"/>
            <a:ext cx="3175000" cy="0"/>
          </a:xfrm>
          <a:prstGeom prst="line">
            <a:avLst/>
          </a:prstGeom>
          <a:ln w="19050">
            <a:solidFill>
              <a:srgbClr val="F44C2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572000" y="3606800"/>
            <a:ext cx="2997200" cy="152400"/>
          </a:xfrm>
          <a:prstGeom prst="rect">
            <a:avLst/>
          </a:prstGeom>
          <a:noFill/>
        </p:spPr>
        <p:txBody>
          <a:bodyPr wrap="square" lIns="0" tIns="0" rIns="0" bIns="0" anchor="t">
            <a:spAutoFit/>
          </a:bodyPr>
          <a:lstStyle/>
          <a:p>
            <a:pPr algn="l">
              <a:spcAft>
                <a:spcPts val="400"/>
              </a:spcAft>
            </a:pPr>
            <a:r>
              <a:rPr sz="850" b="0" i="0">
                <a:solidFill>
                  <a:srgbClr val="F44C25"/>
                </a:solidFill>
                <a:latin typeface="Times New Roman"/>
              </a:rPr>
              <a:t>5 failure or timeout → replace agent</a:t>
            </a:r>
          </a:p>
        </p:txBody>
      </p:sp>
      <p:sp>
        <p:nvSpPr>
          <p:cNvPr id="53" name="Registry group"/>
          <p:cNvSpPr/>
          <p:nvPr/>
        </p:nvSpPr>
        <p:spPr>
          <a:xfrm>
            <a:off x="2489200" y="5105400"/>
            <a:ext cx="8839200" cy="1117600"/>
          </a:xfrm>
          <a:prstGeom prst="roundRect">
            <a:avLst>
              <a:gd name="adj" fmla="val 6000"/>
            </a:avLst>
          </a:prstGeom>
          <a:solidFill>
            <a:srgbClr val="FDEEE8"/>
          </a:solidFill>
          <a:ln w="12700">
            <a:solidFill>
              <a:srgbClr val="F4B5A3"/>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54" name="TextBox 53"/>
          <p:cNvSpPr txBox="1"/>
          <p:nvPr/>
        </p:nvSpPr>
        <p:spPr>
          <a:xfrm>
            <a:off x="3124200" y="5156200"/>
            <a:ext cx="5080000" cy="152400"/>
          </a:xfrm>
          <a:prstGeom prst="rect">
            <a:avLst/>
          </a:prstGeom>
          <a:noFill/>
        </p:spPr>
        <p:txBody>
          <a:bodyPr wrap="square" lIns="0" tIns="0" rIns="0" bIns="0" anchor="t">
            <a:spAutoFit/>
          </a:bodyPr>
          <a:lstStyle/>
          <a:p>
            <a:pPr algn="l">
              <a:spcAft>
                <a:spcPts val="400"/>
              </a:spcAft>
            </a:pPr>
            <a:r>
              <a:rPr sz="1000" b="1" i="0">
                <a:solidFill>
                  <a:srgbClr val="F44C25"/>
                </a:solidFill>
                <a:latin typeface="Times New Roman"/>
              </a:rPr>
              <a:t>Solana Agent Registry (8004) + SATI · devnet</a:t>
            </a:r>
          </a:p>
        </p:txBody>
      </p:sp>
      <p:sp>
        <p:nvSpPr>
          <p:cNvPr id="55" name="Identity"/>
          <p:cNvSpPr/>
          <p:nvPr/>
        </p:nvSpPr>
        <p:spPr>
          <a:xfrm>
            <a:off x="2616200" y="5384800"/>
            <a:ext cx="2413000" cy="7366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0F0F0F"/>
                </a:solidFill>
                <a:latin typeface="Times New Roman"/>
              </a:rPr>
              <a:t>Identity</a:t>
            </a:r>
          </a:p>
          <a:p>
            <a:pPr algn="ctr"/>
            <a:r>
              <a:rPr sz="900" b="0" i="0">
                <a:solidFill>
                  <a:srgbClr val="5A5A5A"/>
                </a:solidFill>
                <a:latin typeface="Times New Roman"/>
              </a:rPr>
              <a:t>registerAgent · OASF skills</a:t>
            </a:r>
          </a:p>
          <a:p>
            <a:pPr algn="ctr"/>
            <a:r>
              <a:rPr sz="900" b="0" i="0">
                <a:solidFill>
                  <a:srgbClr val="5A5A5A"/>
                </a:solidFill>
                <a:latin typeface="Times New Roman"/>
              </a:rPr>
              <a:t>all agents read from the indexer</a:t>
            </a:r>
          </a:p>
        </p:txBody>
      </p:sp>
      <p:sp>
        <p:nvSpPr>
          <p:cNvPr id="56" name="Reputation"/>
          <p:cNvSpPr/>
          <p:nvPr/>
        </p:nvSpPr>
        <p:spPr>
          <a:xfrm>
            <a:off x="5334000" y="5384800"/>
            <a:ext cx="2413000" cy="7366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0F0F0F"/>
                </a:solidFill>
                <a:latin typeface="Times New Roman"/>
              </a:rPr>
              <a:t>Reputation</a:t>
            </a:r>
          </a:p>
          <a:p>
            <a:pPr algn="ctr"/>
            <a:r>
              <a:rPr sz="900" b="0" i="0">
                <a:solidFill>
                  <a:srgbClr val="5A5A5A"/>
                </a:solidFill>
                <a:latin typeface="Times New Roman"/>
              </a:rPr>
              <a:t>readAllFeedback: self-ratings ignored</a:t>
            </a:r>
          </a:p>
          <a:p>
            <a:pPr algn="ctr"/>
            <a:r>
              <a:rPr sz="900" b="0" i="0">
                <a:solidFill>
                  <a:srgbClr val="5A5A5A"/>
                </a:solidFill>
                <a:latin typeface="Times New Roman"/>
              </a:rPr>
              <a:t>giveFeedback after every run</a:t>
            </a:r>
          </a:p>
        </p:txBody>
      </p:sp>
      <p:sp>
        <p:nvSpPr>
          <p:cNvPr id="57" name="Validation"/>
          <p:cNvSpPr/>
          <p:nvPr/>
        </p:nvSpPr>
        <p:spPr>
          <a:xfrm>
            <a:off x="8763000" y="5384800"/>
            <a:ext cx="2413000" cy="736600"/>
          </a:xfrm>
          <a:prstGeom prst="roundRect">
            <a:avLst>
              <a:gd name="adj" fmla="val 12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0F0F0F"/>
                </a:solidFill>
                <a:latin typeface="Times New Roman"/>
              </a:rPr>
              <a:t>Validation records</a:t>
            </a:r>
          </a:p>
          <a:p>
            <a:pPr algn="ctr"/>
            <a:r>
              <a:rPr sz="900" b="0" i="0">
                <a:solidFill>
                  <a:srgbClr val="5A5A5A"/>
                </a:solidFill>
                <a:latin typeface="Times New Roman"/>
              </a:rPr>
              <a:t>verifier verdicts (Postgres)</a:t>
            </a:r>
          </a:p>
          <a:p>
            <a:pPr algn="ctr"/>
            <a:r>
              <a:rPr sz="900" b="0" i="0">
                <a:solidFill>
                  <a:srgbClr val="5A5A5A"/>
                </a:solidFill>
                <a:latin typeface="Times New Roman"/>
              </a:rPr>
              <a:t>linked from each on-chain rating</a:t>
            </a:r>
          </a:p>
        </p:txBody>
      </p:sp>
      <p:cxnSp>
        <p:nvCxnSpPr>
          <p:cNvPr id="58" name="Connector 57"/>
          <p:cNvCxnSpPr/>
          <p:nvPr/>
        </p:nvCxnSpPr>
        <p:spPr>
          <a:xfrm>
            <a:off x="2946400" y="3911600"/>
            <a:ext cx="0" cy="14478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022600" y="4572000"/>
            <a:ext cx="1016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1 discover by skill</a:t>
            </a:r>
          </a:p>
        </p:txBody>
      </p:sp>
      <p:cxnSp>
        <p:nvCxnSpPr>
          <p:cNvPr id="60" name="Connector 59"/>
          <p:cNvCxnSpPr/>
          <p:nvPr/>
        </p:nvCxnSpPr>
        <p:spPr>
          <a:xfrm>
            <a:off x="4191000" y="3911600"/>
            <a:ext cx="0" cy="88900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191000" y="4800600"/>
            <a:ext cx="1778000" cy="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969000" y="4800600"/>
            <a:ext cx="0" cy="5588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267200" y="4622800"/>
            <a:ext cx="1651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7 write performance back</a:t>
            </a:r>
          </a:p>
        </p:txBody>
      </p:sp>
      <p:cxnSp>
        <p:nvCxnSpPr>
          <p:cNvPr id="64" name="Connector 63"/>
          <p:cNvCxnSpPr/>
          <p:nvPr/>
        </p:nvCxnSpPr>
        <p:spPr>
          <a:xfrm flipV="1">
            <a:off x="6858000" y="2387600"/>
            <a:ext cx="0" cy="29718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934200" y="4140200"/>
            <a:ext cx="660400" cy="330200"/>
          </a:xfrm>
          <a:prstGeom prst="rect">
            <a:avLst/>
          </a:prstGeom>
          <a:noFill/>
        </p:spPr>
        <p:txBody>
          <a:bodyPr wrap="square" lIns="0" tIns="0" rIns="0" bIns="0" anchor="t">
            <a:spAutoFit/>
          </a:bodyPr>
          <a:lstStyle/>
          <a:p>
            <a:pPr algn="l">
              <a:spcAft>
                <a:spcPts val="0"/>
              </a:spcAft>
            </a:pPr>
            <a:r>
              <a:rPr sz="850" b="0" i="0">
                <a:solidFill>
                  <a:srgbClr val="0F0F0F"/>
                </a:solidFill>
                <a:latin typeface="Times New Roman"/>
              </a:rPr>
              <a:t>2 past</a:t>
            </a:r>
          </a:p>
          <a:p>
            <a:pPr algn="l">
              <a:spcAft>
                <a:spcPts val="0"/>
              </a:spcAft>
            </a:pPr>
            <a:r>
              <a:rPr sz="850" b="0" i="0">
                <a:solidFill>
                  <a:srgbClr val="0F0F0F"/>
                </a:solidFill>
                <a:latin typeface="Times New Roman"/>
              </a:rPr>
              <a:t>performance</a:t>
            </a:r>
          </a:p>
        </p:txBody>
      </p:sp>
      <p:cxnSp>
        <p:nvCxnSpPr>
          <p:cNvPr id="66" name="Connector 65"/>
          <p:cNvCxnSpPr/>
          <p:nvPr/>
        </p:nvCxnSpPr>
        <p:spPr>
          <a:xfrm>
            <a:off x="9855200" y="3746500"/>
            <a:ext cx="939800" cy="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795000" y="3746500"/>
            <a:ext cx="0" cy="1612900"/>
          </a:xfrm>
          <a:prstGeom prst="line">
            <a:avLst/>
          </a:prstGeom>
          <a:ln w="15875">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10312400" y="4876800"/>
            <a:ext cx="508000" cy="152400"/>
          </a:xfrm>
          <a:prstGeom prst="rect">
            <a:avLst/>
          </a:prstGeom>
          <a:noFill/>
        </p:spPr>
        <p:txBody>
          <a:bodyPr wrap="square" lIns="0" tIns="0" rIns="0" bIns="0" anchor="t">
            <a:spAutoFit/>
          </a:bodyPr>
          <a:lstStyle/>
          <a:p>
            <a:pPr algn="l">
              <a:spcAft>
                <a:spcPts val="400"/>
              </a:spcAft>
            </a:pPr>
            <a:r>
              <a:rPr sz="850" b="0" i="0">
                <a:solidFill>
                  <a:srgbClr val="0F0F0F"/>
                </a:solidFill>
                <a:latin typeface="Times New Roman"/>
              </a:rPr>
              <a:t>verdicts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2" name="Rectangle 1"/>
          <p:cNvSpPr/>
          <p:nvPr/>
        </p:nvSpPr>
        <p:spPr>
          <a:xfrm>
            <a:off x="164592" y="137160"/>
            <a:ext cx="11859768" cy="6565392"/>
          </a:xfrm>
          <a:prstGeom prst="rect">
            <a:avLst/>
          </a:prstGeom>
          <a:noFill/>
          <a:ln w="13970">
            <a:solidFill>
              <a:srgbClr val="0F0F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vectorflow_watermark_medium.png"/>
          <p:cNvPicPr>
            <a:picLocks noChangeAspect="1"/>
          </p:cNvPicPr>
          <p:nvPr/>
        </p:nvPicPr>
        <p:blipFill>
          <a:blip r:embed="rId3"/>
          <a:stretch>
            <a:fillRect/>
          </a:stretch>
        </p:blipFill>
        <p:spPr>
          <a:xfrm>
            <a:off x="4142232" y="960120"/>
            <a:ext cx="3913632" cy="4937760"/>
          </a:xfrm>
          <a:prstGeom prst="rect">
            <a:avLst/>
          </a:prstGeom>
        </p:spPr>
      </p:pic>
      <p:sp>
        <p:nvSpPr>
          <p:cNvPr id="3" name="Rectangle 2"/>
          <p:cNvSpPr/>
          <p:nvPr/>
        </p:nvSpPr>
        <p:spPr>
          <a:xfrm>
            <a:off x="164592" y="137160"/>
            <a:ext cx="1783080" cy="109728"/>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137160"/>
            <a:ext cx="109728" cy="914400"/>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0652760" y="137160"/>
            <a:ext cx="1097280" cy="310896"/>
          </a:xfrm>
          <a:prstGeom prst="parallelogram">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914632" y="5029200"/>
            <a:ext cx="109728" cy="132588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326880" y="6583680"/>
            <a:ext cx="269748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4592" y="5623560"/>
            <a:ext cx="109728" cy="105156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4592" y="6583680"/>
            <a:ext cx="123444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02920"/>
            <a:ext cx="10789920" cy="502920"/>
          </a:xfrm>
          <a:prstGeom prst="rect">
            <a:avLst/>
          </a:prstGeom>
          <a:noFill/>
        </p:spPr>
        <p:txBody>
          <a:bodyPr wrap="square" lIns="18288" tIns="9144" rIns="18288" bIns="9144">
            <a:spAutoFit/>
          </a:bodyPr>
          <a:lstStyle/>
          <a:p>
            <a:pPr algn="l">
              <a:spcAft>
                <a:spcPts val="0"/>
              </a:spcAft>
            </a:pPr>
            <a:r>
              <a:rPr sz="2800" b="1">
                <a:solidFill>
                  <a:srgbClr val="0F0F0F"/>
                </a:solidFill>
                <a:latin typeface="Times New Roman"/>
              </a:rPr>
              <a:t>FEATURES</a:t>
            </a:r>
          </a:p>
        </p:txBody>
      </p:sp>
      <p:sp>
        <p:nvSpPr>
          <p:cNvPr id="11" name="Rectangle 10"/>
          <p:cNvSpPr/>
          <p:nvPr/>
        </p:nvSpPr>
        <p:spPr>
          <a:xfrm>
            <a:off x="566928" y="1234440"/>
            <a:ext cx="11018520" cy="5074920"/>
          </a:xfrm>
          <a:prstGeom prst="rect">
            <a:avLst/>
          </a:prstGeom>
          <a:noFill/>
          <a:ln w="1270">
            <a:solidFill>
              <a:srgbClr val="FFF9EB"/>
            </a:solidFill>
          </a:ln>
        </p:spPr>
        <p:style>
          <a:lnRef idx="1">
            <a:schemeClr val="accent1"/>
          </a:lnRef>
          <a:fillRef idx="3">
            <a:schemeClr val="accent1"/>
          </a:fillRef>
          <a:effectRef idx="2">
            <a:schemeClr val="accent1"/>
          </a:effectRef>
          <a:fontRef idx="minor">
            <a:schemeClr val="lt1"/>
          </a:fontRef>
        </p:style>
        <p:txBody>
          <a:bodyPr wrap="square" lIns="146304" tIns="109728" rIns="146304" rtlCol="0" anchor="ctr"/>
          <a:lstStyle/>
          <a:p>
            <a:pPr algn="ctr"/>
            <a:endParaRPr/>
          </a:p>
        </p:txBody>
      </p:sp>
      <p:sp>
        <p:nvSpPr>
          <p:cNvPr id="13" name="Key label"/>
          <p:cNvSpPr txBox="1"/>
          <p:nvPr/>
        </p:nvSpPr>
        <p:spPr>
          <a:xfrm>
            <a:off x="787400" y="1320800"/>
            <a:ext cx="6350000" cy="2286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KEY FEATURES</a:t>
            </a:r>
            <a:r>
              <a:rPr sz="1150" b="0" i="0">
                <a:solidFill>
                  <a:srgbClr val="5A5A5A"/>
                </a:solidFill>
                <a:latin typeface="Times New Roman"/>
              </a:rPr>
              <a:t>   what makes hiring from a registry trustworthy</a:t>
            </a:r>
          </a:p>
        </p:txBody>
      </p:sp>
      <p:sp>
        <p:nvSpPr>
          <p:cNvPr id="14" name="Key feature 1"/>
          <p:cNvSpPr/>
          <p:nvPr/>
        </p:nvSpPr>
        <p:spPr>
          <a:xfrm>
            <a:off x="787400" y="1574800"/>
            <a:ext cx="2006600" cy="1168400"/>
          </a:xfrm>
          <a:prstGeom prst="roundRect">
            <a:avLst>
              <a:gd name="adj" fmla="val 8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15" name="Oval 14"/>
          <p:cNvSpPr/>
          <p:nvPr/>
        </p:nvSpPr>
        <p:spPr>
          <a:xfrm>
            <a:off x="901700" y="1676400"/>
            <a:ext cx="254000" cy="2540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FFFFFF"/>
                </a:solidFill>
                <a:latin typeface="Times New Roman"/>
              </a:rPr>
              <a:t>1</a:t>
            </a:r>
          </a:p>
        </p:txBody>
      </p:sp>
      <p:sp>
        <p:nvSpPr>
          <p:cNvPr id="16" name="TextBox 15"/>
          <p:cNvSpPr txBox="1"/>
          <p:nvPr/>
        </p:nvSpPr>
        <p:spPr>
          <a:xfrm>
            <a:off x="1219200" y="1651000"/>
            <a:ext cx="1498600" cy="330200"/>
          </a:xfrm>
          <a:prstGeom prst="rect">
            <a:avLst/>
          </a:prstGeom>
          <a:noFill/>
        </p:spPr>
        <p:txBody>
          <a:bodyPr wrap="square" lIns="0" tIns="0" rIns="0" bIns="0" anchor="ctr">
            <a:spAutoFit/>
          </a:bodyPr>
          <a:lstStyle/>
          <a:p>
            <a:pPr algn="l">
              <a:spcAft>
                <a:spcPts val="400"/>
              </a:spcAft>
            </a:pPr>
            <a:r>
              <a:rPr sz="1150" b="1" i="0">
                <a:solidFill>
                  <a:srgbClr val="0F0F0F"/>
                </a:solidFill>
                <a:latin typeface="Times New Roman"/>
              </a:rPr>
              <a:t>Registry-native hiring</a:t>
            </a:r>
          </a:p>
        </p:txBody>
      </p:sp>
      <p:sp>
        <p:nvSpPr>
          <p:cNvPr id="17" name="TextBox 16"/>
          <p:cNvSpPr txBox="1"/>
          <p:nvPr/>
        </p:nvSpPr>
        <p:spPr>
          <a:xfrm>
            <a:off x="901700" y="2032000"/>
            <a:ext cx="1778000" cy="685800"/>
          </a:xfrm>
          <a:prstGeom prst="rect">
            <a:avLst/>
          </a:prstGeom>
          <a:noFill/>
        </p:spPr>
        <p:txBody>
          <a:bodyPr wrap="square" lIns="0" tIns="0" rIns="0" bIns="0" anchor="t">
            <a:spAutoFit/>
          </a:bodyPr>
          <a:lstStyle/>
          <a:p>
            <a:pPr algn="l">
              <a:spcAft>
                <a:spcPts val="400"/>
              </a:spcAft>
            </a:pPr>
            <a:r>
              <a:rPr sz="1000" b="0" i="0">
                <a:solidFill>
                  <a:srgbClr val="5A5A5A"/>
                </a:solidFill>
                <a:latin typeface="Times New Roman"/>
              </a:rPr>
              <a:t>Finds agents in 8004 and SATI by skill; writes every score back on-chain.</a:t>
            </a:r>
          </a:p>
        </p:txBody>
      </p:sp>
      <p:sp>
        <p:nvSpPr>
          <p:cNvPr id="18" name="Key feature 2"/>
          <p:cNvSpPr/>
          <p:nvPr/>
        </p:nvSpPr>
        <p:spPr>
          <a:xfrm>
            <a:off x="2921000" y="1574800"/>
            <a:ext cx="2006600" cy="1168400"/>
          </a:xfrm>
          <a:prstGeom prst="roundRect">
            <a:avLst>
              <a:gd name="adj" fmla="val 8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19" name="Oval 18"/>
          <p:cNvSpPr/>
          <p:nvPr/>
        </p:nvSpPr>
        <p:spPr>
          <a:xfrm>
            <a:off x="3035300" y="1676400"/>
            <a:ext cx="254000" cy="2540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FFFFFF"/>
                </a:solidFill>
                <a:latin typeface="Times New Roman"/>
              </a:rPr>
              <a:t>2</a:t>
            </a:r>
          </a:p>
        </p:txBody>
      </p:sp>
      <p:sp>
        <p:nvSpPr>
          <p:cNvPr id="20" name="TextBox 19"/>
          <p:cNvSpPr txBox="1"/>
          <p:nvPr/>
        </p:nvSpPr>
        <p:spPr>
          <a:xfrm>
            <a:off x="3352800" y="1651000"/>
            <a:ext cx="1498600" cy="330200"/>
          </a:xfrm>
          <a:prstGeom prst="rect">
            <a:avLst/>
          </a:prstGeom>
          <a:noFill/>
        </p:spPr>
        <p:txBody>
          <a:bodyPr wrap="square" lIns="0" tIns="0" rIns="0" bIns="0" anchor="ctr">
            <a:spAutoFit/>
          </a:bodyPr>
          <a:lstStyle/>
          <a:p>
            <a:pPr algn="l">
              <a:spcAft>
                <a:spcPts val="400"/>
              </a:spcAft>
            </a:pPr>
            <a:r>
              <a:rPr sz="1150" b="1" i="0">
                <a:solidFill>
                  <a:srgbClr val="0F0F0F"/>
                </a:solidFill>
                <a:latin typeface="Times New Roman"/>
              </a:rPr>
              <a:t>Standard benchmark</a:t>
            </a:r>
          </a:p>
        </p:txBody>
      </p:sp>
      <p:sp>
        <p:nvSpPr>
          <p:cNvPr id="21" name="TextBox 20"/>
          <p:cNvSpPr txBox="1"/>
          <p:nvPr/>
        </p:nvSpPr>
        <p:spPr>
          <a:xfrm>
            <a:off x="3035300" y="2032000"/>
            <a:ext cx="1778000" cy="685800"/>
          </a:xfrm>
          <a:prstGeom prst="rect">
            <a:avLst/>
          </a:prstGeom>
          <a:noFill/>
        </p:spPr>
        <p:txBody>
          <a:bodyPr wrap="square" lIns="0" tIns="0" rIns="0" bIns="0" anchor="t">
            <a:spAutoFit/>
          </a:bodyPr>
          <a:lstStyle/>
          <a:p>
            <a:pPr algn="l">
              <a:spcAft>
                <a:spcPts val="400"/>
              </a:spcAft>
            </a:pPr>
            <a:r>
              <a:rPr sz="1000" b="0" i="0">
                <a:solidFill>
                  <a:srgbClr val="5A5A5A"/>
                </a:solidFill>
                <a:latin typeface="Times New Roman"/>
              </a:rPr>
              <a:t>Same public test for all (SQuAD 2.0, HotpotQA, FEVER); 5 equal aspects; 60/100.</a:t>
            </a:r>
          </a:p>
        </p:txBody>
      </p:sp>
      <p:sp>
        <p:nvSpPr>
          <p:cNvPr id="22" name="Key feature 3"/>
          <p:cNvSpPr/>
          <p:nvPr/>
        </p:nvSpPr>
        <p:spPr>
          <a:xfrm>
            <a:off x="5054600" y="1574800"/>
            <a:ext cx="2006600" cy="1168400"/>
          </a:xfrm>
          <a:prstGeom prst="roundRect">
            <a:avLst>
              <a:gd name="adj" fmla="val 8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23" name="Oval 22"/>
          <p:cNvSpPr/>
          <p:nvPr/>
        </p:nvSpPr>
        <p:spPr>
          <a:xfrm>
            <a:off x="5168900" y="1676400"/>
            <a:ext cx="254000" cy="2540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FFFFFF"/>
                </a:solidFill>
                <a:latin typeface="Times New Roman"/>
              </a:rPr>
              <a:t>3</a:t>
            </a:r>
          </a:p>
        </p:txBody>
      </p:sp>
      <p:sp>
        <p:nvSpPr>
          <p:cNvPr id="24" name="TextBox 23"/>
          <p:cNvSpPr txBox="1"/>
          <p:nvPr/>
        </p:nvSpPr>
        <p:spPr>
          <a:xfrm>
            <a:off x="5486400" y="1651000"/>
            <a:ext cx="1498600" cy="330200"/>
          </a:xfrm>
          <a:prstGeom prst="rect">
            <a:avLst/>
          </a:prstGeom>
          <a:noFill/>
        </p:spPr>
        <p:txBody>
          <a:bodyPr wrap="square" lIns="0" tIns="0" rIns="0" bIns="0" anchor="ctr">
            <a:spAutoFit/>
          </a:bodyPr>
          <a:lstStyle/>
          <a:p>
            <a:pPr algn="l">
              <a:spcAft>
                <a:spcPts val="400"/>
              </a:spcAft>
            </a:pPr>
            <a:r>
              <a:rPr sz="1150" b="1" i="0">
                <a:solidFill>
                  <a:srgbClr val="0F0F0F"/>
                </a:solidFill>
                <a:latin typeface="Times New Roman"/>
              </a:rPr>
              <a:t>Independent reputation</a:t>
            </a:r>
          </a:p>
        </p:txBody>
      </p:sp>
      <p:sp>
        <p:nvSpPr>
          <p:cNvPr id="25" name="TextBox 24"/>
          <p:cNvSpPr txBox="1"/>
          <p:nvPr/>
        </p:nvSpPr>
        <p:spPr>
          <a:xfrm>
            <a:off x="5168900" y="2032000"/>
            <a:ext cx="1778000" cy="685800"/>
          </a:xfrm>
          <a:prstGeom prst="rect">
            <a:avLst/>
          </a:prstGeom>
          <a:noFill/>
        </p:spPr>
        <p:txBody>
          <a:bodyPr wrap="square" lIns="0" tIns="0" rIns="0" bIns="0" anchor="t">
            <a:spAutoFit/>
          </a:bodyPr>
          <a:lstStyle/>
          <a:p>
            <a:pPr algn="l">
              <a:spcAft>
                <a:spcPts val="400"/>
              </a:spcAft>
            </a:pPr>
            <a:r>
              <a:rPr sz="1000" b="0" i="0">
                <a:solidFill>
                  <a:srgbClr val="5A5A5A"/>
                </a:solidFill>
                <a:latin typeface="Times New Roman"/>
              </a:rPr>
              <a:t>Ratings from an agent's own operator are ignored.</a:t>
            </a:r>
          </a:p>
        </p:txBody>
      </p:sp>
      <p:sp>
        <p:nvSpPr>
          <p:cNvPr id="26" name="Key feature 4"/>
          <p:cNvSpPr/>
          <p:nvPr/>
        </p:nvSpPr>
        <p:spPr>
          <a:xfrm>
            <a:off x="7188200" y="1574800"/>
            <a:ext cx="2006600" cy="1168400"/>
          </a:xfrm>
          <a:prstGeom prst="roundRect">
            <a:avLst>
              <a:gd name="adj" fmla="val 8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27" name="Oval 26"/>
          <p:cNvSpPr/>
          <p:nvPr/>
        </p:nvSpPr>
        <p:spPr>
          <a:xfrm>
            <a:off x="7302500" y="1676400"/>
            <a:ext cx="254000" cy="2540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FFFFFF"/>
                </a:solidFill>
                <a:latin typeface="Times New Roman"/>
              </a:rPr>
              <a:t>4</a:t>
            </a:r>
          </a:p>
        </p:txBody>
      </p:sp>
      <p:sp>
        <p:nvSpPr>
          <p:cNvPr id="28" name="TextBox 27"/>
          <p:cNvSpPr txBox="1"/>
          <p:nvPr/>
        </p:nvSpPr>
        <p:spPr>
          <a:xfrm>
            <a:off x="7620000" y="1651000"/>
            <a:ext cx="1498600" cy="330200"/>
          </a:xfrm>
          <a:prstGeom prst="rect">
            <a:avLst/>
          </a:prstGeom>
          <a:noFill/>
        </p:spPr>
        <p:txBody>
          <a:bodyPr wrap="square" lIns="0" tIns="0" rIns="0" bIns="0" anchor="ctr">
            <a:spAutoFit/>
          </a:bodyPr>
          <a:lstStyle/>
          <a:p>
            <a:pPr algn="l">
              <a:spcAft>
                <a:spcPts val="400"/>
              </a:spcAft>
            </a:pPr>
            <a:r>
              <a:rPr sz="1150" b="1" i="0">
                <a:solidFill>
                  <a:srgbClr val="0F0F0F"/>
                </a:solidFill>
                <a:latin typeface="Times New Roman"/>
              </a:rPr>
              <a:t>Verified, traceable claims</a:t>
            </a:r>
          </a:p>
        </p:txBody>
      </p:sp>
      <p:sp>
        <p:nvSpPr>
          <p:cNvPr id="29" name="TextBox 28"/>
          <p:cNvSpPr txBox="1"/>
          <p:nvPr/>
        </p:nvSpPr>
        <p:spPr>
          <a:xfrm>
            <a:off x="7302500" y="2032000"/>
            <a:ext cx="1778000" cy="685800"/>
          </a:xfrm>
          <a:prstGeom prst="rect">
            <a:avLst/>
          </a:prstGeom>
          <a:noFill/>
        </p:spPr>
        <p:txBody>
          <a:bodyPr wrap="square" lIns="0" tIns="0" rIns="0" bIns="0" anchor="t">
            <a:spAutoFit/>
          </a:bodyPr>
          <a:lstStyle/>
          <a:p>
            <a:pPr algn="l">
              <a:spcAft>
                <a:spcPts val="400"/>
              </a:spcAft>
            </a:pPr>
            <a:r>
              <a:rPr sz="1000" b="0" i="0">
                <a:solidFill>
                  <a:srgbClr val="5A5A5A"/>
                </a:solidFill>
                <a:latin typeface="Times New Roman"/>
              </a:rPr>
              <a:t>Quote, source and agent IDs on every claim; checked by a different agent.</a:t>
            </a:r>
          </a:p>
        </p:txBody>
      </p:sp>
      <p:sp>
        <p:nvSpPr>
          <p:cNvPr id="30" name="Key feature 5"/>
          <p:cNvSpPr/>
          <p:nvPr/>
        </p:nvSpPr>
        <p:spPr>
          <a:xfrm>
            <a:off x="9321800" y="1574800"/>
            <a:ext cx="2006600" cy="1168400"/>
          </a:xfrm>
          <a:prstGeom prst="roundRect">
            <a:avLst>
              <a:gd name="adj" fmla="val 8000"/>
            </a:avLst>
          </a:prstGeom>
          <a:solidFill>
            <a:srgbClr val="FFFFFF"/>
          </a:solidFill>
          <a:ln w="12700">
            <a:solidFill>
              <a:srgbClr val="D8CFBD"/>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1" name="Oval 30"/>
          <p:cNvSpPr/>
          <p:nvPr/>
        </p:nvSpPr>
        <p:spPr>
          <a:xfrm>
            <a:off x="9436100" y="1676400"/>
            <a:ext cx="254000" cy="254000"/>
          </a:xfrm>
          <a:prstGeom prst="ellipse">
            <a:avLst/>
          </a:prstGeom>
          <a:solidFill>
            <a:srgbClr val="F44C2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050" b="1" i="0">
                <a:solidFill>
                  <a:srgbClr val="FFFFFF"/>
                </a:solidFill>
                <a:latin typeface="Times New Roman"/>
              </a:rPr>
              <a:t>5</a:t>
            </a:r>
          </a:p>
        </p:txBody>
      </p:sp>
      <p:sp>
        <p:nvSpPr>
          <p:cNvPr id="32" name="TextBox 31"/>
          <p:cNvSpPr txBox="1"/>
          <p:nvPr/>
        </p:nvSpPr>
        <p:spPr>
          <a:xfrm>
            <a:off x="9753600" y="1651000"/>
            <a:ext cx="1498600" cy="330200"/>
          </a:xfrm>
          <a:prstGeom prst="rect">
            <a:avLst/>
          </a:prstGeom>
          <a:noFill/>
        </p:spPr>
        <p:txBody>
          <a:bodyPr wrap="square" lIns="0" tIns="0" rIns="0" bIns="0" anchor="ctr">
            <a:spAutoFit/>
          </a:bodyPr>
          <a:lstStyle/>
          <a:p>
            <a:pPr algn="l">
              <a:spcAft>
                <a:spcPts val="400"/>
              </a:spcAft>
            </a:pPr>
            <a:r>
              <a:rPr sz="1150" b="1" i="0">
                <a:solidFill>
                  <a:srgbClr val="0F0F0F"/>
                </a:solidFill>
                <a:latin typeface="Times New Roman"/>
              </a:rPr>
              <a:t>Live failover</a:t>
            </a:r>
          </a:p>
        </p:txBody>
      </p:sp>
      <p:sp>
        <p:nvSpPr>
          <p:cNvPr id="33" name="TextBox 32"/>
          <p:cNvSpPr txBox="1"/>
          <p:nvPr/>
        </p:nvSpPr>
        <p:spPr>
          <a:xfrm>
            <a:off x="9436100" y="2032000"/>
            <a:ext cx="1778000" cy="685800"/>
          </a:xfrm>
          <a:prstGeom prst="rect">
            <a:avLst/>
          </a:prstGeom>
          <a:noFill/>
        </p:spPr>
        <p:txBody>
          <a:bodyPr wrap="square" lIns="0" tIns="0" rIns="0" bIns="0" anchor="t">
            <a:spAutoFit/>
          </a:bodyPr>
          <a:lstStyle/>
          <a:p>
            <a:pPr algn="l">
              <a:spcAft>
                <a:spcPts val="400"/>
              </a:spcAft>
            </a:pPr>
            <a:r>
              <a:rPr sz="1000" b="0" i="0">
                <a:solidFill>
                  <a:srgbClr val="5A5A5A"/>
                </a:solidFill>
                <a:latin typeface="Times New Roman"/>
              </a:rPr>
              <a:t>A dead agent is replaced mid-run by a screened backup.</a:t>
            </a:r>
          </a:p>
        </p:txBody>
      </p:sp>
      <p:sp>
        <p:nvSpPr>
          <p:cNvPr id="34" name="Good label"/>
          <p:cNvSpPr txBox="1"/>
          <p:nvPr/>
        </p:nvSpPr>
        <p:spPr>
          <a:xfrm>
            <a:off x="787400" y="2819400"/>
            <a:ext cx="6350000" cy="228600"/>
          </a:xfrm>
          <a:prstGeom prst="rect">
            <a:avLst/>
          </a:prstGeom>
          <a:noFill/>
        </p:spPr>
        <p:txBody>
          <a:bodyPr wrap="square" lIns="0" tIns="0" rIns="0" bIns="0" anchor="t">
            <a:spAutoFit/>
          </a:bodyPr>
          <a:lstStyle/>
          <a:p>
            <a:pPr algn="l">
              <a:spcAft>
                <a:spcPts val="400"/>
              </a:spcAft>
            </a:pPr>
            <a:r>
              <a:rPr sz="1250" b="1" i="0">
                <a:solidFill>
                  <a:srgbClr val="0F0F0F"/>
                </a:solidFill>
                <a:latin typeface="Times New Roman"/>
              </a:rPr>
              <a:t>GOOD TO HAVE</a:t>
            </a:r>
            <a:r>
              <a:rPr sz="1150" b="0" i="0">
                <a:solidFill>
                  <a:srgbClr val="5A5A5A"/>
                </a:solidFill>
                <a:latin typeface="Times New Roman"/>
              </a:rPr>
              <a:t>   easy and robust to use</a:t>
            </a:r>
          </a:p>
        </p:txBody>
      </p:sp>
      <p:sp>
        <p:nvSpPr>
          <p:cNvPr id="35" name="Good to have panel"/>
          <p:cNvSpPr/>
          <p:nvPr/>
        </p:nvSpPr>
        <p:spPr>
          <a:xfrm>
            <a:off x="787400" y="3060700"/>
            <a:ext cx="10541000" cy="635000"/>
          </a:xfrm>
          <a:prstGeom prst="roundRect">
            <a:avLst>
              <a:gd name="adj" fmla="val 12000"/>
            </a:avLst>
          </a:prstGeom>
          <a:solidFill>
            <a:srgbClr val="FFF0C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6" name="Oval 35"/>
          <p:cNvSpPr/>
          <p:nvPr/>
        </p:nvSpPr>
        <p:spPr>
          <a:xfrm>
            <a:off x="939800" y="3187700"/>
            <a:ext cx="101600" cy="1016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7" name="Good 1"/>
          <p:cNvSpPr txBox="1"/>
          <p:nvPr/>
        </p:nvSpPr>
        <p:spPr>
          <a:xfrm>
            <a:off x="1117600" y="3124200"/>
            <a:ext cx="3276600" cy="254000"/>
          </a:xfrm>
          <a:prstGeom prst="rect">
            <a:avLst/>
          </a:prstGeom>
          <a:noFill/>
        </p:spPr>
        <p:txBody>
          <a:bodyPr wrap="square" lIns="0" tIns="0" rIns="0" bIns="0" anchor="t">
            <a:spAutoFit/>
          </a:bodyPr>
          <a:lstStyle/>
          <a:p>
            <a:pPr algn="l">
              <a:spcAft>
                <a:spcPts val="400"/>
              </a:spcAft>
            </a:pPr>
            <a:r>
              <a:rPr sz="1050" b="1" i="0">
                <a:solidFill>
                  <a:srgbClr val="0F0F0F"/>
                </a:solidFill>
                <a:latin typeface="Times New Roman"/>
              </a:rPr>
              <a:t>Asks when unclear  </a:t>
            </a:r>
            <a:r>
              <a:rPr sz="1000" b="0" i="0">
                <a:solidFill>
                  <a:srgbClr val="5A5A5A"/>
                </a:solidFill>
                <a:latin typeface="Times New Roman"/>
              </a:rPr>
              <a:t>“which one?” and follow-ups</a:t>
            </a:r>
          </a:p>
        </p:txBody>
      </p:sp>
      <p:sp>
        <p:nvSpPr>
          <p:cNvPr id="38" name="Oval 37"/>
          <p:cNvSpPr/>
          <p:nvPr/>
        </p:nvSpPr>
        <p:spPr>
          <a:xfrm>
            <a:off x="4419600" y="3187700"/>
            <a:ext cx="101600" cy="1016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39" name="Good 2"/>
          <p:cNvSpPr txBox="1"/>
          <p:nvPr/>
        </p:nvSpPr>
        <p:spPr>
          <a:xfrm>
            <a:off x="4597400" y="3124200"/>
            <a:ext cx="3276600" cy="254000"/>
          </a:xfrm>
          <a:prstGeom prst="rect">
            <a:avLst/>
          </a:prstGeom>
          <a:noFill/>
        </p:spPr>
        <p:txBody>
          <a:bodyPr wrap="square" lIns="0" tIns="0" rIns="0" bIns="0" anchor="t">
            <a:spAutoFit/>
          </a:bodyPr>
          <a:lstStyle/>
          <a:p>
            <a:pPr algn="l">
              <a:spcAft>
                <a:spcPts val="400"/>
              </a:spcAft>
            </a:pPr>
            <a:r>
              <a:rPr sz="1050" b="1" i="0">
                <a:solidFill>
                  <a:srgbClr val="0F0F0F"/>
                </a:solidFill>
                <a:latin typeface="Times New Roman"/>
              </a:rPr>
              <a:t>Wikipedia + web search  </a:t>
            </a:r>
            <a:r>
              <a:rPr sz="1000" b="0" i="0">
                <a:solidFill>
                  <a:srgbClr val="5A5A5A"/>
                </a:solidFill>
                <a:latin typeface="Times New Roman"/>
              </a:rPr>
              <a:t>every sentence cited</a:t>
            </a:r>
          </a:p>
        </p:txBody>
      </p:sp>
      <p:sp>
        <p:nvSpPr>
          <p:cNvPr id="40" name="Oval 39"/>
          <p:cNvSpPr/>
          <p:nvPr/>
        </p:nvSpPr>
        <p:spPr>
          <a:xfrm>
            <a:off x="7899400" y="3187700"/>
            <a:ext cx="101600" cy="1016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41" name="Good 3"/>
          <p:cNvSpPr txBox="1"/>
          <p:nvPr/>
        </p:nvSpPr>
        <p:spPr>
          <a:xfrm>
            <a:off x="8077200" y="3124200"/>
            <a:ext cx="3276600" cy="254000"/>
          </a:xfrm>
          <a:prstGeom prst="rect">
            <a:avLst/>
          </a:prstGeom>
          <a:noFill/>
        </p:spPr>
        <p:txBody>
          <a:bodyPr wrap="square" lIns="0" tIns="0" rIns="0" bIns="0" anchor="t">
            <a:spAutoFit/>
          </a:bodyPr>
          <a:lstStyle/>
          <a:p>
            <a:pPr algn="l">
              <a:spcAft>
                <a:spcPts val="400"/>
              </a:spcAft>
            </a:pPr>
            <a:r>
              <a:rPr sz="1050" b="1" i="0">
                <a:solidFill>
                  <a:srgbClr val="0F0F0F"/>
                </a:solidFill>
                <a:latin typeface="Times New Roman"/>
              </a:rPr>
              <a:t>Live progress and timing  </a:t>
            </a:r>
            <a:r>
              <a:rPr sz="1000" b="0" i="0">
                <a:solidFill>
                  <a:srgbClr val="5A5A5A"/>
                </a:solidFill>
                <a:latin typeface="Times New Roman"/>
              </a:rPr>
              <a:t>% done, timer, failover record</a:t>
            </a:r>
          </a:p>
        </p:txBody>
      </p:sp>
      <p:sp>
        <p:nvSpPr>
          <p:cNvPr id="42" name="Oval 41"/>
          <p:cNvSpPr/>
          <p:nvPr/>
        </p:nvSpPr>
        <p:spPr>
          <a:xfrm>
            <a:off x="939800" y="3454400"/>
            <a:ext cx="101600" cy="1016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43" name="Good 4"/>
          <p:cNvSpPr txBox="1"/>
          <p:nvPr/>
        </p:nvSpPr>
        <p:spPr>
          <a:xfrm>
            <a:off x="1117600" y="3390900"/>
            <a:ext cx="3276600" cy="254000"/>
          </a:xfrm>
          <a:prstGeom prst="rect">
            <a:avLst/>
          </a:prstGeom>
          <a:noFill/>
        </p:spPr>
        <p:txBody>
          <a:bodyPr wrap="square" lIns="0" tIns="0" rIns="0" bIns="0" anchor="t">
            <a:spAutoFit/>
          </a:bodyPr>
          <a:lstStyle/>
          <a:p>
            <a:pPr algn="l">
              <a:spcAft>
                <a:spcPts val="400"/>
              </a:spcAft>
            </a:pPr>
            <a:r>
              <a:rPr sz="1050" b="1" i="0">
                <a:solidFill>
                  <a:srgbClr val="0F0F0F"/>
                </a:solidFill>
                <a:latin typeface="Times New Roman"/>
              </a:rPr>
              <a:t>Survives free-tier limits  </a:t>
            </a:r>
            <a:r>
              <a:rPr sz="1000" b="0" i="0">
                <a:solidFill>
                  <a:srgbClr val="5A5A5A"/>
                </a:solidFill>
                <a:latin typeface="Times New Roman"/>
              </a:rPr>
              <a:t>switches AI model, no unfair scores</a:t>
            </a:r>
          </a:p>
        </p:txBody>
      </p:sp>
      <p:sp>
        <p:nvSpPr>
          <p:cNvPr id="44" name="Oval 43"/>
          <p:cNvSpPr/>
          <p:nvPr/>
        </p:nvSpPr>
        <p:spPr>
          <a:xfrm>
            <a:off x="4419600" y="3454400"/>
            <a:ext cx="101600" cy="1016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45" name="Good 5"/>
          <p:cNvSpPr txBox="1"/>
          <p:nvPr/>
        </p:nvSpPr>
        <p:spPr>
          <a:xfrm>
            <a:off x="4597400" y="3390900"/>
            <a:ext cx="3276600" cy="254000"/>
          </a:xfrm>
          <a:prstGeom prst="rect">
            <a:avLst/>
          </a:prstGeom>
          <a:noFill/>
        </p:spPr>
        <p:txBody>
          <a:bodyPr wrap="square" lIns="0" tIns="0" rIns="0" bIns="0" anchor="t">
            <a:spAutoFit/>
          </a:bodyPr>
          <a:lstStyle/>
          <a:p>
            <a:pPr algn="l">
              <a:spcAft>
                <a:spcPts val="400"/>
              </a:spcAft>
            </a:pPr>
            <a:r>
              <a:rPr sz="1050" b="1" i="0">
                <a:solidFill>
                  <a:srgbClr val="0F0F0F"/>
                </a:solidFill>
                <a:latin typeface="Times New Roman"/>
              </a:rPr>
              <a:t>MCP agents checked  </a:t>
            </a:r>
            <a:r>
              <a:rPr sz="1000" b="0" i="0">
                <a:solidFill>
                  <a:srgbClr val="5A5A5A"/>
                </a:solidFill>
                <a:latin typeface="Times New Roman"/>
              </a:rPr>
              <a:t>handshake-tested, tools listed</a:t>
            </a:r>
          </a:p>
        </p:txBody>
      </p:sp>
      <p:sp>
        <p:nvSpPr>
          <p:cNvPr id="46" name="Oval 45"/>
          <p:cNvSpPr/>
          <p:nvPr/>
        </p:nvSpPr>
        <p:spPr>
          <a:xfrm>
            <a:off x="7899400" y="3454400"/>
            <a:ext cx="101600" cy="101600"/>
          </a:xfrm>
          <a:prstGeom prst="ellipse">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47" name="Good 6"/>
          <p:cNvSpPr txBox="1"/>
          <p:nvPr/>
        </p:nvSpPr>
        <p:spPr>
          <a:xfrm>
            <a:off x="8077200" y="3390900"/>
            <a:ext cx="3276600" cy="254000"/>
          </a:xfrm>
          <a:prstGeom prst="rect">
            <a:avLst/>
          </a:prstGeom>
          <a:noFill/>
        </p:spPr>
        <p:txBody>
          <a:bodyPr wrap="square" lIns="0" tIns="0" rIns="0" bIns="0" anchor="t">
            <a:spAutoFit/>
          </a:bodyPr>
          <a:lstStyle/>
          <a:p>
            <a:pPr algn="l">
              <a:spcAft>
                <a:spcPts val="400"/>
              </a:spcAft>
            </a:pPr>
            <a:r>
              <a:rPr sz="1050" b="1" i="0">
                <a:solidFill>
                  <a:srgbClr val="0F0F0F"/>
                </a:solidFill>
                <a:latin typeface="Times New Roman"/>
              </a:rPr>
              <a:t>Records and monitoring  </a:t>
            </a:r>
            <a:r>
              <a:rPr sz="1000" b="0" i="0">
                <a:solidFill>
                  <a:srgbClr val="5A5A5A"/>
                </a:solidFill>
                <a:latin typeface="Times New Roman"/>
              </a:rPr>
              <a:t>Postgres, Prometheus, Docker, CI</a:t>
            </a:r>
          </a:p>
        </p:txBody>
      </p:sp>
      <p:sp>
        <p:nvSpPr>
          <p:cNvPr id="48" name="Compare label"/>
          <p:cNvSpPr txBox="1"/>
          <p:nvPr/>
        </p:nvSpPr>
        <p:spPr>
          <a:xfrm>
            <a:off x="787400" y="3784600"/>
            <a:ext cx="6350000" cy="228600"/>
          </a:xfrm>
          <a:prstGeom prst="rect">
            <a:avLst/>
          </a:prstGeom>
          <a:noFill/>
        </p:spPr>
        <p:txBody>
          <a:bodyPr wrap="square" lIns="0" tIns="0" rIns="0" bIns="0" anchor="t">
            <a:spAutoFit/>
          </a:bodyPr>
          <a:lstStyle/>
          <a:p>
            <a:pPr algn="l">
              <a:spcAft>
                <a:spcPts val="400"/>
              </a:spcAft>
            </a:pPr>
            <a:r>
              <a:rPr sz="1250" b="1" i="0">
                <a:solidFill>
                  <a:srgbClr val="F44C25"/>
                </a:solidFill>
                <a:latin typeface="Times New Roman"/>
              </a:rPr>
              <a:t>BEFORE vs AFTER</a:t>
            </a:r>
            <a:r>
              <a:rPr sz="1150" b="0" i="0">
                <a:solidFill>
                  <a:srgbClr val="5A5A5A"/>
                </a:solidFill>
                <a:latin typeface="Times New Roman"/>
              </a:rPr>
              <a:t>   same 5 questions, same agents, measured on devnet</a:t>
            </a:r>
          </a:p>
        </p:txBody>
      </p:sp>
      <p:sp>
        <p:nvSpPr>
          <p:cNvPr id="49" name="Rounded Rectangle 48"/>
          <p:cNvSpPr/>
          <p:nvPr/>
        </p:nvSpPr>
        <p:spPr>
          <a:xfrm>
            <a:off x="3251200" y="4038600"/>
            <a:ext cx="4013200" cy="304800"/>
          </a:xfrm>
          <a:prstGeom prst="roundRect">
            <a:avLst>
              <a:gd name="adj" fmla="val 20000"/>
            </a:avLst>
          </a:prstGeom>
          <a:solidFill>
            <a:srgbClr val="ECE6D9"/>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0F0F0F"/>
                </a:solidFill>
                <a:latin typeface="Times New Roman"/>
              </a:rPr>
              <a:t>BEFORE · fixed team, no checks</a:t>
            </a:r>
          </a:p>
        </p:txBody>
      </p:sp>
      <p:sp>
        <p:nvSpPr>
          <p:cNvPr id="50" name="Rounded Rectangle 49"/>
          <p:cNvSpPr/>
          <p:nvPr/>
        </p:nvSpPr>
        <p:spPr>
          <a:xfrm>
            <a:off x="7315200" y="4038600"/>
            <a:ext cx="4013200" cy="304800"/>
          </a:xfrm>
          <a:prstGeom prst="roundRect">
            <a:avLst>
              <a:gd name="adj" fmla="val 20000"/>
            </a:avLst>
          </a:prstGeom>
          <a:solidFill>
            <a:srgbClr val="0F0F0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r>
              <a:rPr sz="1100" b="1" i="0">
                <a:solidFill>
                  <a:srgbClr val="FFFFFF"/>
                </a:solidFill>
                <a:latin typeface="Times New Roman"/>
              </a:rPr>
              <a:t>AFTER · with Sworn</a:t>
            </a:r>
          </a:p>
        </p:txBody>
      </p:sp>
      <p:sp>
        <p:nvSpPr>
          <p:cNvPr id="51" name="Rounded Rectangle 50"/>
          <p:cNvSpPr/>
          <p:nvPr/>
        </p:nvSpPr>
        <p:spPr>
          <a:xfrm>
            <a:off x="787400" y="4368800"/>
            <a:ext cx="10541000" cy="3429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52" name="TextBox 51"/>
          <p:cNvSpPr txBox="1"/>
          <p:nvPr/>
        </p:nvSpPr>
        <p:spPr>
          <a:xfrm>
            <a:off x="914400" y="4432300"/>
            <a:ext cx="2286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Unsupported claims in answers</a:t>
            </a:r>
          </a:p>
        </p:txBody>
      </p:sp>
      <p:sp>
        <p:nvSpPr>
          <p:cNvPr id="53" name="TextBox 52"/>
          <p:cNvSpPr txBox="1"/>
          <p:nvPr/>
        </p:nvSpPr>
        <p:spPr>
          <a:xfrm>
            <a:off x="3378200" y="4432300"/>
            <a:ext cx="3810000" cy="254000"/>
          </a:xfrm>
          <a:prstGeom prst="rect">
            <a:avLst/>
          </a:prstGeom>
          <a:noFill/>
        </p:spPr>
        <p:txBody>
          <a:bodyPr wrap="square" lIns="0" tIns="0" rIns="0" bIns="0" anchor="t">
            <a:spAutoFit/>
          </a:bodyPr>
          <a:lstStyle/>
          <a:p>
            <a:pPr algn="l">
              <a:spcAft>
                <a:spcPts val="400"/>
              </a:spcAft>
            </a:pPr>
            <a:r>
              <a:rPr sz="1100" b="0" i="0">
                <a:solidFill>
                  <a:srgbClr val="5A5A5A"/>
                </a:solidFill>
                <a:latin typeface="Times New Roman"/>
              </a:rPr>
              <a:t>4 of 38 (11%)</a:t>
            </a:r>
          </a:p>
        </p:txBody>
      </p:sp>
      <p:sp>
        <p:nvSpPr>
          <p:cNvPr id="54" name="TextBox 53"/>
          <p:cNvSpPr txBox="1"/>
          <p:nvPr/>
        </p:nvSpPr>
        <p:spPr>
          <a:xfrm>
            <a:off x="7442200" y="4432300"/>
            <a:ext cx="3810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0 of 48 (0%)</a:t>
            </a:r>
          </a:p>
        </p:txBody>
      </p:sp>
      <p:sp>
        <p:nvSpPr>
          <p:cNvPr id="55" name="TextBox 54"/>
          <p:cNvSpPr txBox="1"/>
          <p:nvPr/>
        </p:nvSpPr>
        <p:spPr>
          <a:xfrm>
            <a:off x="914400" y="4775200"/>
            <a:ext cx="2286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A lying agent on the team</a:t>
            </a:r>
          </a:p>
        </p:txBody>
      </p:sp>
      <p:sp>
        <p:nvSpPr>
          <p:cNvPr id="56" name="TextBox 55"/>
          <p:cNvSpPr txBox="1"/>
          <p:nvPr/>
        </p:nvSpPr>
        <p:spPr>
          <a:xfrm>
            <a:off x="3378200" y="4775200"/>
            <a:ext cx="3810000" cy="254000"/>
          </a:xfrm>
          <a:prstGeom prst="rect">
            <a:avLst/>
          </a:prstGeom>
          <a:noFill/>
        </p:spPr>
        <p:txBody>
          <a:bodyPr wrap="square" lIns="0" tIns="0" rIns="0" bIns="0" anchor="t">
            <a:spAutoFit/>
          </a:bodyPr>
          <a:lstStyle/>
          <a:p>
            <a:pPr algn="l">
              <a:spcAft>
                <a:spcPts val="400"/>
              </a:spcAft>
            </a:pPr>
            <a:r>
              <a:rPr sz="1100" b="0" i="0">
                <a:solidFill>
                  <a:srgbClr val="5A5A5A"/>
                </a:solidFill>
                <a:latin typeface="Times New Roman"/>
              </a:rPr>
              <a:t>stays and keeps answering</a:t>
            </a:r>
          </a:p>
        </p:txBody>
      </p:sp>
      <p:sp>
        <p:nvSpPr>
          <p:cNvPr id="57" name="TextBox 56"/>
          <p:cNvSpPr txBox="1"/>
          <p:nvPr/>
        </p:nvSpPr>
        <p:spPr>
          <a:xfrm>
            <a:off x="7442200" y="4775200"/>
            <a:ext cx="3810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rejected by the benchmark (40/100)</a:t>
            </a:r>
          </a:p>
        </p:txBody>
      </p:sp>
      <p:sp>
        <p:nvSpPr>
          <p:cNvPr id="58" name="Rounded Rectangle 57"/>
          <p:cNvSpPr/>
          <p:nvPr/>
        </p:nvSpPr>
        <p:spPr>
          <a:xfrm>
            <a:off x="787400" y="5054600"/>
            <a:ext cx="10541000" cy="3429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59" name="TextBox 58"/>
          <p:cNvSpPr txBox="1"/>
          <p:nvPr/>
        </p:nvSpPr>
        <p:spPr>
          <a:xfrm>
            <a:off x="914400" y="5118100"/>
            <a:ext cx="2286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Who said what</a:t>
            </a:r>
          </a:p>
        </p:txBody>
      </p:sp>
      <p:sp>
        <p:nvSpPr>
          <p:cNvPr id="60" name="TextBox 59"/>
          <p:cNvSpPr txBox="1"/>
          <p:nvPr/>
        </p:nvSpPr>
        <p:spPr>
          <a:xfrm>
            <a:off x="3378200" y="5118100"/>
            <a:ext cx="3810000" cy="254000"/>
          </a:xfrm>
          <a:prstGeom prst="rect">
            <a:avLst/>
          </a:prstGeom>
          <a:noFill/>
        </p:spPr>
        <p:txBody>
          <a:bodyPr wrap="square" lIns="0" tIns="0" rIns="0" bIns="0" anchor="t">
            <a:spAutoFit/>
          </a:bodyPr>
          <a:lstStyle/>
          <a:p>
            <a:pPr algn="l">
              <a:spcAft>
                <a:spcPts val="400"/>
              </a:spcAft>
            </a:pPr>
            <a:r>
              <a:rPr sz="1100" b="0" i="0">
                <a:solidFill>
                  <a:srgbClr val="5A5A5A"/>
                </a:solidFill>
                <a:latin typeface="Times New Roman"/>
              </a:rPr>
              <a:t>unknown</a:t>
            </a:r>
          </a:p>
        </p:txBody>
      </p:sp>
      <p:sp>
        <p:nvSpPr>
          <p:cNvPr id="61" name="TextBox 60"/>
          <p:cNvSpPr txBox="1"/>
          <p:nvPr/>
        </p:nvSpPr>
        <p:spPr>
          <a:xfrm>
            <a:off x="7442200" y="5118100"/>
            <a:ext cx="3810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100% of claims: quote, source, agent IDs</a:t>
            </a:r>
          </a:p>
        </p:txBody>
      </p:sp>
      <p:sp>
        <p:nvSpPr>
          <p:cNvPr id="62" name="TextBox 61"/>
          <p:cNvSpPr txBox="1"/>
          <p:nvPr/>
        </p:nvSpPr>
        <p:spPr>
          <a:xfrm>
            <a:off x="914400" y="5461000"/>
            <a:ext cx="2286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An agent dies mid-run</a:t>
            </a:r>
          </a:p>
        </p:txBody>
      </p:sp>
      <p:sp>
        <p:nvSpPr>
          <p:cNvPr id="63" name="TextBox 62"/>
          <p:cNvSpPr txBox="1"/>
          <p:nvPr/>
        </p:nvSpPr>
        <p:spPr>
          <a:xfrm>
            <a:off x="3378200" y="5461000"/>
            <a:ext cx="3810000" cy="254000"/>
          </a:xfrm>
          <a:prstGeom prst="rect">
            <a:avLst/>
          </a:prstGeom>
          <a:noFill/>
        </p:spPr>
        <p:txBody>
          <a:bodyPr wrap="square" lIns="0" tIns="0" rIns="0" bIns="0" anchor="t">
            <a:spAutoFit/>
          </a:bodyPr>
          <a:lstStyle/>
          <a:p>
            <a:pPr algn="l">
              <a:spcAft>
                <a:spcPts val="400"/>
              </a:spcAft>
            </a:pPr>
            <a:r>
              <a:rPr sz="1100" b="0" i="0">
                <a:solidFill>
                  <a:srgbClr val="5A5A5A"/>
                </a:solidFill>
                <a:latin typeface="Times New Roman"/>
              </a:rPr>
              <a:t>that part of the answer is lost</a:t>
            </a:r>
          </a:p>
        </p:txBody>
      </p:sp>
      <p:sp>
        <p:nvSpPr>
          <p:cNvPr id="64" name="TextBox 63"/>
          <p:cNvSpPr txBox="1"/>
          <p:nvPr/>
        </p:nvSpPr>
        <p:spPr>
          <a:xfrm>
            <a:off x="7442200" y="5461000"/>
            <a:ext cx="3810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a backup takes over in ~2 s</a:t>
            </a:r>
          </a:p>
        </p:txBody>
      </p:sp>
      <p:sp>
        <p:nvSpPr>
          <p:cNvPr id="65" name="Rounded Rectangle 64"/>
          <p:cNvSpPr/>
          <p:nvPr/>
        </p:nvSpPr>
        <p:spPr>
          <a:xfrm>
            <a:off x="787400" y="5740400"/>
            <a:ext cx="10541000" cy="3429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66" name="TextBox 65"/>
          <p:cNvSpPr txBox="1"/>
          <p:nvPr/>
        </p:nvSpPr>
        <p:spPr>
          <a:xfrm>
            <a:off x="914400" y="5803900"/>
            <a:ext cx="2286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Reputation</a:t>
            </a:r>
          </a:p>
        </p:txBody>
      </p:sp>
      <p:sp>
        <p:nvSpPr>
          <p:cNvPr id="67" name="TextBox 66"/>
          <p:cNvSpPr txBox="1"/>
          <p:nvPr/>
        </p:nvSpPr>
        <p:spPr>
          <a:xfrm>
            <a:off x="3378200" y="5803900"/>
            <a:ext cx="3810000" cy="254000"/>
          </a:xfrm>
          <a:prstGeom prst="rect">
            <a:avLst/>
          </a:prstGeom>
          <a:noFill/>
        </p:spPr>
        <p:txBody>
          <a:bodyPr wrap="square" lIns="0" tIns="0" rIns="0" bIns="0" anchor="t">
            <a:spAutoFit/>
          </a:bodyPr>
          <a:lstStyle/>
          <a:p>
            <a:pPr algn="l">
              <a:spcAft>
                <a:spcPts val="400"/>
              </a:spcAft>
            </a:pPr>
            <a:r>
              <a:rPr sz="1100" b="0" i="0">
                <a:solidFill>
                  <a:srgbClr val="5A5A5A"/>
                </a:solidFill>
                <a:latin typeface="Times New Roman"/>
              </a:rPr>
              <a:t>self-ratings count</a:t>
            </a:r>
          </a:p>
        </p:txBody>
      </p:sp>
      <p:sp>
        <p:nvSpPr>
          <p:cNvPr id="68" name="TextBox 67"/>
          <p:cNvSpPr txBox="1"/>
          <p:nvPr/>
        </p:nvSpPr>
        <p:spPr>
          <a:xfrm>
            <a:off x="7442200" y="5803900"/>
            <a:ext cx="3810000" cy="254000"/>
          </a:xfrm>
          <a:prstGeom prst="rect">
            <a:avLst/>
          </a:prstGeom>
          <a:noFill/>
        </p:spPr>
        <p:txBody>
          <a:bodyPr wrap="square" lIns="0" tIns="0" rIns="0" bIns="0" anchor="t">
            <a:spAutoFit/>
          </a:bodyPr>
          <a:lstStyle/>
          <a:p>
            <a:pPr algn="l">
              <a:spcAft>
                <a:spcPts val="400"/>
              </a:spcAft>
            </a:pPr>
            <a:r>
              <a:rPr sz="1100" b="1" i="0">
                <a:solidFill>
                  <a:srgbClr val="0F0F0F"/>
                </a:solidFill>
                <a:latin typeface="Times New Roman"/>
              </a:rPr>
              <a:t>only independent ratings count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2" name="Rectangle 1"/>
          <p:cNvSpPr/>
          <p:nvPr/>
        </p:nvSpPr>
        <p:spPr>
          <a:xfrm>
            <a:off x="164592" y="137160"/>
            <a:ext cx="11859768" cy="6565392"/>
          </a:xfrm>
          <a:prstGeom prst="rect">
            <a:avLst/>
          </a:prstGeom>
          <a:noFill/>
          <a:ln w="13970">
            <a:solidFill>
              <a:srgbClr val="0F0F0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vectorflow_watermark_medium.png"/>
          <p:cNvPicPr>
            <a:picLocks noChangeAspect="1"/>
          </p:cNvPicPr>
          <p:nvPr/>
        </p:nvPicPr>
        <p:blipFill>
          <a:blip r:embed="rId3"/>
          <a:stretch>
            <a:fillRect/>
          </a:stretch>
        </p:blipFill>
        <p:spPr>
          <a:xfrm>
            <a:off x="4142232" y="960120"/>
            <a:ext cx="3913632" cy="4937760"/>
          </a:xfrm>
          <a:prstGeom prst="rect">
            <a:avLst/>
          </a:prstGeom>
        </p:spPr>
      </p:pic>
      <p:sp>
        <p:nvSpPr>
          <p:cNvPr id="3" name="Rectangle 2"/>
          <p:cNvSpPr/>
          <p:nvPr/>
        </p:nvSpPr>
        <p:spPr>
          <a:xfrm>
            <a:off x="164592" y="137160"/>
            <a:ext cx="1783080" cy="109728"/>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 y="137160"/>
            <a:ext cx="109728" cy="914400"/>
          </a:xfrm>
          <a:prstGeom prst="rect">
            <a:avLst/>
          </a:prstGeom>
          <a:solidFill>
            <a:srgbClr val="F44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0652760" y="137160"/>
            <a:ext cx="1097280" cy="310896"/>
          </a:xfrm>
          <a:prstGeom prst="parallelogram">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914632" y="5029200"/>
            <a:ext cx="109728" cy="132588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326880" y="6583680"/>
            <a:ext cx="269748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4592" y="5623560"/>
            <a:ext cx="109728" cy="1051560"/>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4592" y="6583680"/>
            <a:ext cx="1234440" cy="109728"/>
          </a:xfrm>
          <a:prstGeom prst="rect">
            <a:avLst/>
          </a:prstGeom>
          <a:solidFill>
            <a:srgbClr val="FFB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743200"/>
            <a:ext cx="10332720" cy="731520"/>
          </a:xfrm>
          <a:prstGeom prst="rect">
            <a:avLst/>
          </a:prstGeom>
          <a:noFill/>
        </p:spPr>
        <p:txBody>
          <a:bodyPr wrap="square" lIns="18288" tIns="9144" rIns="18288" bIns="9144">
            <a:spAutoFit/>
          </a:bodyPr>
          <a:lstStyle/>
          <a:p>
            <a:pPr algn="ctr">
              <a:spcAft>
                <a:spcPts val="0"/>
              </a:spcAft>
            </a:pPr>
            <a:r>
              <a:rPr sz="5200" b="1">
                <a:solidFill>
                  <a:srgbClr val="0F0F0F"/>
                </a:solidFill>
                <a:latin typeface="Times New Roman"/>
              </a:rPr>
              <a:t>THANK YOU</a:t>
            </a:r>
          </a:p>
        </p:txBody>
      </p:sp>
      <p:sp>
        <p:nvSpPr>
          <p:cNvPr id="12" name="Thank you footer"/>
          <p:cNvSpPr txBox="1"/>
          <p:nvPr/>
        </p:nvSpPr>
        <p:spPr>
          <a:xfrm>
            <a:off x="2286000" y="5943600"/>
            <a:ext cx="7620000" cy="246221"/>
          </a:xfrm>
          <a:prstGeom prst="rect">
            <a:avLst/>
          </a:prstGeom>
          <a:noFill/>
        </p:spPr>
        <p:txBody>
          <a:bodyPr wrap="square" lIns="0" tIns="0" rIns="0" bIns="0" anchor="t">
            <a:spAutoFit/>
          </a:bodyPr>
          <a:lstStyle/>
          <a:p>
            <a:pPr algn="ctr">
              <a:spcAft>
                <a:spcPts val="400"/>
              </a:spcAft>
            </a:pPr>
            <a:r>
              <a:rPr sz="1600" b="1" i="0" dirty="0">
                <a:solidFill>
                  <a:srgbClr val="5A5A5A"/>
                </a:solidFill>
                <a:latin typeface="Times New Roman"/>
              </a:rPr>
              <a:t>Sworn · Team Dancing Burgers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1621</Words>
  <Application>Microsoft Office PowerPoint</Application>
  <PresentationFormat>Widescreen</PresentationFormat>
  <Paragraphs>165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Tanishq Dhawan</cp:lastModifiedBy>
  <cp:revision>2</cp:revision>
  <dcterms:created xsi:type="dcterms:W3CDTF">2013-01-27T09:14:16Z</dcterms:created>
  <dcterms:modified xsi:type="dcterms:W3CDTF">2026-10-26T19:21:38Z</dcterms:modified>
  <cp:category/>
</cp:coreProperties>
</file>